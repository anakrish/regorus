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AWS Formal Policy Analysis: 8-Year Investment &amp; Comparison</a:t>
            </a:r>
          </a:p>
          <a:p>
            <a:r>
              <a:t>• All data sourced from public AWS blogs, product pages, and Amazon Science publications.</a:t>
            </a:r>
          </a:p>
          <a:p>
            <a:r>
              <a:t>• This deck maps AWS's investment timeline, products, impact, and where MS Policy Intelligence differs.</a:t>
            </a:r>
          </a:p>
          <a:p>
            <a:r>
              <a:t>• Key framing: AWS has 8 years of production-hardened formal analysis; MS has novel prototype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• AWS has invested ~8 years building formal analysis — from internal Zelkova to production services.</a:t>
            </a:r>
          </a:p>
          <a:p>
            <a:r>
              <a:t>• Microsoft has novel capabilities (diff, subsumes, gen-tests) but they're prototypes.</a:t>
            </a:r>
          </a:p>
          <a:p>
            <a:r>
              <a:t>• The Regorus Rego engine itself is production-grade and already used in Azure.</a:t>
            </a:r>
          </a:p>
          <a:p>
            <a:r>
              <a:t>• Key honest framing: maturity gap is real but MS has capabilities AWS doesn't have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</a:t>
            </a:r>
          </a:p>
          <a:p>
            <a:r>
              <a:t>• Zelkova was first disclosed in a June 2018 blog; believed to have started ~2017.</a:t>
            </a:r>
          </a:p>
          <a:p>
            <a:r>
              <a:t>• S3 Block Public Access (Nov 2018) was the first customer-facing use — it runs in the critical path.</a:t>
            </a:r>
          </a:p>
          <a:p>
            <a:r>
              <a:t>• IAM Access Analyzer launched at re:Invent 2019 — the first service customers interact with directly.</a:t>
            </a:r>
          </a:p>
          <a:p>
            <a:r>
              <a:t>• 2021: Policy validation (100+ checks) and policy generation (from CloudTrail).</a:t>
            </a:r>
          </a:p>
          <a:p>
            <a:r>
              <a:t>• 2022: Neha Rungta's CAV keynote revealed ~1B SMT queries/day — that was 4 years ago.</a:t>
            </a:r>
          </a:p>
          <a:p>
            <a:r>
              <a:t>• 2023: Cedar open-sourced + Verified Permissions GA + OOPSLA paper — a big year.</a:t>
            </a:r>
          </a:p>
          <a:p>
            <a:r>
              <a:t>• Ongoing: Active Cedar 4.x releases, Stanford cvc5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ZELKOVA</a:t>
            </a:r>
          </a:p>
          <a:p>
            <a:r>
              <a:t>• Internal engine — not exposed directly to customers.</a:t>
            </a:r>
          </a:p>
          <a:p>
            <a:r>
              <a:t>• Key insight: "services ask questions on behalf of customers" — users don't run SMT queries.</a:t>
            </a:r>
          </a:p>
          <a:p>
            <a:r>
              <a:t>• Portfolio solver approach: run Z3, CVC4, cvc5, and custom automata solver in parallel; first answer wins.</a:t>
            </a:r>
          </a:p>
          <a:p>
            <a:r>
              <a:t>• Upgrade challenge (CAV talk): moving from CVC4→cvc5 caused regressions; they kept both.</a:t>
            </a:r>
          </a:p>
          <a:p>
            <a:r>
              <a:t>• The ~1B figure is from 2022 — likely higher now.</a:t>
            </a:r>
          </a:p>
          <a:p>
            <a:r>
              <a:t>• Services powered: S3 Block Public Access runs Zelkova synchronously in the request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IAM ACCESS ANALYZER</a:t>
            </a:r>
          </a:p>
          <a:p>
            <a:r>
              <a:t>• This is the primary customer-facing automated-reasoning service.</a:t>
            </a:r>
          </a:p>
          <a:p>
            <a:r>
              <a:t>• External access findings: FREE (included in IAM) — finds resources shared outside org boundary.</a:t>
            </a:r>
          </a:p>
          <a:p>
            <a:r>
              <a:t>• Policy validation: 100+ checks at authoring time — free.</a:t>
            </a:r>
          </a:p>
          <a:p>
            <a:r>
              <a:t>• Policy generation: Analyzes CloudTrail to suggest least-privilege policies — free.</a:t>
            </a:r>
          </a:p>
          <a:p>
            <a:r>
              <a:t>• Custom policy checks: Paid feature for CI/CD pipelines; GoTo's quote is very strong.</a:t>
            </a:r>
          </a:p>
          <a:p>
            <a:r>
              <a:t>• Unused access analyzer: Paid per analyzer; finds unused roles/permissions across the 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CEDAR + VERIFIED PERMISSIONS</a:t>
            </a:r>
          </a:p>
          <a:p>
            <a:r>
              <a:t>• Cedar was intentionally designed to be analyzable — no loops, no user-defined functions.</a:t>
            </a:r>
          </a:p>
          <a:p>
            <a:r>
              <a:t>• This makes Cedar's analysis decidable, but limits expressiveness vs Rego.</a:t>
            </a:r>
          </a:p>
          <a:p>
            <a:r>
              <a:t>• Verification-guided development: they write Dafny formal models FIRST, then implement in Rust.</a:t>
            </a:r>
          </a:p>
          <a:p>
            <a:r>
              <a:t>• 100M differential random tests per night compare Dafny model vs Rust implementation.</a:t>
            </a:r>
          </a:p>
          <a:p>
            <a:r>
              <a:t>• Verified Permissions is the managed service — customers write Cedar, AWS manages infra.</a:t>
            </a:r>
          </a:p>
          <a:p>
            <a:r>
              <a:t>• Customer names are from AWS product pages — all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BY THE NUMBERS</a:t>
            </a:r>
          </a:p>
          <a:p>
            <a:r>
              <a:t>• The 1B queries/day figure is from Neha Rungta's CAV 2022 keynote — likely higher now.</a:t>
            </a:r>
          </a:p>
          <a:p>
            <a:r>
              <a:t>• Portfolio solver: Z3 + CVC4 + cvc5 + custom automata solver; winner-take-all.</a:t>
            </a:r>
          </a:p>
          <a:p>
            <a:r>
              <a:t>• 100M DRT tests/night: differential random testing comparing Dafny model vs Rust Cedar implementation.</a:t>
            </a:r>
          </a:p>
          <a:p>
            <a:r>
              <a:t>• Named customers from product pages: USAA, Bridgewater, GoTo, TELUS, Stedi, Twilio, FIS, Grosvenor, Attentive.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AWS ORGANIZATIONAL INVESTMENT</a:t>
            </a:r>
          </a:p>
          <a:p>
            <a:r>
              <a:t>• The Automated Reasoning Group (ARG) is a distinct org within AWS — not a side project.</a:t>
            </a:r>
          </a:p>
          <a:p>
            <a:r>
              <a:t>• Leadership: Neha Rungta gave the CAV 2022 keynote (top formal methods conference).</a:t>
            </a:r>
          </a:p>
          <a:p>
            <a:r>
              <a:t>• Mike Hicks: senior principal scientist, formerly CS professor at UMD.</a:t>
            </a:r>
          </a:p>
          <a:p>
            <a:r>
              <a:t>• The "Provable Security" brand is embedded in AWS's security marketing.</a:t>
            </a:r>
          </a:p>
          <a:p>
            <a:r>
              <a:t>• Academic collaborations (Stanford/cvc5) give additional credibility.</a:t>
            </a:r>
          </a:p>
          <a:p>
            <a:r>
              <a:t>• This level of organizational commitment is hard to replicate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AWS LEADS</a:t>
            </a:r>
          </a:p>
          <a:p>
            <a:r>
              <a:t>• AWS's lead is structural: 8 years, billions of queries, production-hardened.</a:t>
            </a:r>
          </a:p>
          <a:p>
            <a:r>
              <a:t>• IAM posture management (access analyzer, policy validation, generation) is AWS's home turf.</a:t>
            </a:r>
          </a:p>
          <a:p>
            <a:r>
              <a:t>• The "Provable Security" brand is established — customers search for it.</a:t>
            </a:r>
          </a:p>
          <a:p>
            <a:r>
              <a:t>• Engine verification: AWS ships Dafny proofs of Cedar today; MS Verus is a design doc.</a:t>
            </a:r>
          </a:p>
          <a:p>
            <a:r>
              <a:t>• Key message: don't compete directly here — compete on the capabilities AWS LACKS.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MS HAS NOVEL CAPABILITIES</a:t>
            </a:r>
          </a:p>
          <a:p>
            <a:r>
              <a:t>• These are capabilities that AWS simply does not offer today — real differentiation.</a:t>
            </a:r>
          </a:p>
          <a:p>
            <a:r>
              <a:t>• BUT: they are all prototypes, not production. Honest framing is critical for credibility.</a:t>
            </a:r>
          </a:p>
          <a:p>
            <a:r>
              <a:t>• Policy diff &amp; subsumption: most compelling for safe policy migration scenarios.</a:t>
            </a:r>
          </a:p>
          <a:p>
            <a:r>
              <a:t>• MC/DC condition coverage: unique — borrowed from aviation safety standards (DO-178C).</a:t>
            </a:r>
          </a:p>
          <a:p>
            <a:r>
              <a:t>• Dead rule detection: emerges naturally from UNSAT path analysis — no extra work.</a:t>
            </a:r>
          </a:p>
          <a:p>
            <a:r>
              <a:t>• Rego support is the strategic wedge — OPA/Rego is the industry standard; Cedar is growing but smaller.</a:t>
            </a:r>
          </a:p>
          <a:p>
            <a:r>
              <a:t>• Why denied (MAX-SAT): designed but not yet implemented — don't claim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COMPARISON</a:t>
            </a:r>
          </a:p>
          <a:p>
            <a:r>
              <a:t>• Cedar: intentionally restricted — no loops, no UDFs. This makes analysis decidable.</a:t>
            </a:r>
          </a:p>
          <a:p>
            <a:r>
              <a:t>• Rego: general-purpose, Turing-powerful over finite data. Industry standard via OPA/CNCF.</a:t>
            </a:r>
          </a:p>
          <a:p>
            <a:r>
              <a:t>• Tradeoff: Cedar is easier to analyze but less expressive. Rego handles more real policies.</a:t>
            </a:r>
          </a:p>
          <a:p>
            <a:r>
              <a:t>• MS bounded analysis: loops unrolled to a depth limit (default 5). This is sound but incomplete.</a:t>
            </a:r>
          </a:p>
          <a:p>
            <a:r>
              <a:t>• The strategic bet: most enterprises already use Rego/OPA. Cedar adoption is growing but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 — AWS LEADS</a:t>
            </a:r>
          </a:p>
          <a:p>
            <a:r>
              <a:t>• These are structural advantages built over 8 years — not quick to replicate.</a:t>
            </a:r>
          </a:p>
          <a:p>
            <a:r>
              <a:t>• The moat is real: production scale, customer proof points, academic credibility, brand.</a:t>
            </a:r>
          </a:p>
          <a:p>
            <a:r>
              <a:t>• Recommendation: acknowledge these and compete on different dimensions (the novel capabilities).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 — MS DIFFERENTIATION</a:t>
            </a:r>
          </a:p>
          <a:p>
            <a:r>
              <a:t>• The diff/subsumes/gen-tests capabilities are genuinely novel — AWS has nothing like them.</a:t>
            </a:r>
          </a:p>
          <a:p>
            <a:r>
              <a:t>• BUT: all prototype stage. Honest framing builds credibility.</a:t>
            </a:r>
          </a:p>
          <a:p>
            <a:r>
              <a:t>• Rego multi-language support is the strategic wedge — most enterprises use OPA/Rego.</a:t>
            </a:r>
          </a:p>
          <a:p>
            <a:r>
              <a:t>• The Regorus Rego engine itself IS production-grade and open source — that's real.</a:t>
            </a:r>
          </a:p>
          <a:p>
            <a:r>
              <a:t>• Path to value: harden prototypes → ship → get customer proof points →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STRATEGIC RECOMMENDATIONS</a:t>
            </a:r>
          </a:p>
          <a:p>
            <a:r>
              <a:t>1. Don't compete where AWS is strongest (IAM posture) — focus on novel analysis.</a:t>
            </a:r>
          </a:p>
          <a:p>
            <a:r>
              <a:t>2. Invest in hardening: the prototypes work but need production polish.</a:t>
            </a:r>
          </a:p>
          <a:p>
            <a:r>
              <a:t>3. Rego is the strategic wedge — it's where the customers are.</a:t>
            </a:r>
          </a:p>
          <a:p>
            <a:r>
              <a:t>4. Publish: academic credibility matters in formal methods. The approach is novel enough for a paper.</a:t>
            </a:r>
          </a:p>
          <a:p>
            <a:r>
              <a:t>5. Ship then brand: don't create a "Provable Security" equivalent until features are production-grade.</a:t>
            </a:r>
          </a:p>
          <a:p>
            <a:r>
              <a:t>6. Customer proof points: start internal (Azure teams), expand to design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SUMMARY</a:t>
            </a:r>
          </a:p>
          <a:p>
            <a:r>
              <a:t>• Three columns: what AWS has built (their moat), what MS has started (prototypes), what MS needs to do.</a:t>
            </a:r>
          </a:p>
          <a:p>
            <a:r>
              <a:t>• The honest framing builds credibility — don't oversell the prototypes.</a:t>
            </a:r>
          </a:p>
          <a:p>
            <a:r>
              <a:t>• The novel capabilities (diff, subsumes, gen-tests, MC/DC) are real differentiation.</a:t>
            </a:r>
          </a:p>
          <a:p>
            <a:r>
              <a:t>• Path forward: harden → publish → ship → get customers →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AWS Formal Policy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DEFB"/>
                </a:solidFill>
              </a:defRPr>
            </a:pPr>
            <a:r>
              <a:t>8-Year Investment Timeline &amp; Comparison with Policy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365760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CAF9"/>
                </a:solidFill>
              </a:defRPr>
            </a:pPr>
            <a:r>
              <a:t>Competitive Intelligence  •  February 2026  •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200400" cy="64008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~1 Billion SMT Queries/Day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840480"/>
            <a:ext cx="3200400" cy="64008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8+ Years of Production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840480"/>
            <a:ext cx="3200400" cy="64008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8+ Named Enterprise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CAF9"/>
                </a:solidFill>
              </a:defRPr>
            </a:pPr>
            <a:r>
              <a:t>Data from publicly available AWS sources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AWS's ~8-Year Investment in Formal Policy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669280" cy="301752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AWS Investment (Production)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Automated Reasoning Group (ARG) — dedicated research org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Zelkova engine: SMT-based policy analysis since ~2017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IAM Access Analyzer: GA since Dec 2019 (5 features)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Cedar language: open source May 2023 (Apache 2.0)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Verified Permissions: managed Cedar-as-a-service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"Provable Security" brand with customer testimonials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~1 billion SMT queries/day across AWS services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Academic: CAV 2022 keynote, OOPSLA 2023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486400" cy="3017520"/>
          </a:xfrm>
          <a:prstGeom prst="roundRect">
            <a:avLst/>
          </a:prstGeom>
          <a:solidFill>
            <a:srgbClr val="E6F2F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Microsoft Policy Intelligence (Prototype)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Regorus Rego engine: production-grade, open source (MIT)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Z3 analysis: ~10K lines, working CLI (feature branch)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Novel: policy diff, subsumption, test gen, MC/DC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Novel: dead rule detection, line-targeted coverage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Supports Rego + Cedar + Azure Policy (multi-language)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Verus verification: design doc only (not yet started)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No production deployment; no public customers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No academic publications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72000"/>
            <a:ext cx="1143000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⚠  Maturity gap: AWS features are production-grade (GA, 8 years, 1B queries/day). MS Z3 features are working prototypes on a feature branch — not production-shipped.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Timeline — 8 Years of Formal Policy Analysis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Major milestones from ~2017 to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3200400"/>
            <a:ext cx="11064240" cy="36576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97280" cy="91440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Zelkova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(internal)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~2017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1261872" y="2331720"/>
            <a:ext cx="182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0760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50720" y="3566160"/>
            <a:ext cx="1097280" cy="9144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S3 Block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Public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07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1072" y="3236976"/>
            <a:ext cx="18288" cy="32918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89960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69920" y="1417320"/>
            <a:ext cx="1097280" cy="91440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IAM Access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Analyzer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992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0272" y="2331720"/>
            <a:ext cx="182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09159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566160"/>
            <a:ext cx="1097280" cy="9144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Policy Validation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&amp;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9472" y="3236976"/>
            <a:ext cx="18288" cy="32918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28359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08320" y="1417320"/>
            <a:ext cx="1097280" cy="91440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1B SMT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Queries/Day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832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8672" y="2331720"/>
            <a:ext cx="182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47559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27519" y="3566160"/>
            <a:ext cx="1097280" cy="9144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Cedar Open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Sourced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7519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7871" y="3236976"/>
            <a:ext cx="18288" cy="32918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66760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1417320"/>
            <a:ext cx="1097280" cy="91440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Verified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Permissions 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2331720"/>
            <a:ext cx="182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5960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65920" y="3566160"/>
            <a:ext cx="1097280" cy="9144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OOPSLA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Paper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59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96272" y="3236976"/>
            <a:ext cx="18288" cy="329183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05160" y="3136392"/>
            <a:ext cx="164592" cy="16459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85120" y="1417320"/>
            <a:ext cx="1097280" cy="91440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Cedar 4.x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+ cvc5 collab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8512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2025-26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15472" y="2331720"/>
            <a:ext cx="18288" cy="8686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03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60"/>
                </a:solidFill>
              </a:defRPr>
            </a:pPr>
            <a:r>
              <a:t>Source: AWS Security Blog, Amazon Science, AWS product pages  •  All dates from public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Product: Zelkova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The internal SMT engine powering provable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194560" cy="10972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IAM / S3 / Resource</a:t>
            </a:r>
          </a:p>
          <a:p>
            <a:pPr algn="ctr">
              <a:defRPr sz="1300" b="0">
                <a:solidFill>
                  <a:srgbClr val="1A1A2E"/>
                </a:solidFill>
              </a:defRPr>
            </a:pPr>
            <a:r>
              <a:t>Policies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0" y="2194560"/>
            <a:ext cx="731520" cy="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0" y="1463040"/>
            <a:ext cx="2743200" cy="14630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A1A2E"/>
                </a:solidFill>
              </a:defRPr>
            </a:pPr>
            <a:r>
              <a:t>Zelkova Engine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Policy → Math Formula</a:t>
            </a:r>
          </a:p>
          <a:p>
            <a:pPr algn="ctr">
              <a:defRPr sz="1200" b="0">
                <a:solidFill>
                  <a:srgbClr val="1A1A2E"/>
                </a:solidFill>
              </a:defRPr>
            </a:pPr>
            <a:r>
              <a:t>→ SMT Constraints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92240" y="2194560"/>
            <a:ext cx="731520" cy="0"/>
          </a:xfrm>
          <a:prstGeom prst="line">
            <a:avLst/>
          </a:prstGeom>
          <a:ln w="25400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0" y="1371600"/>
            <a:ext cx="4206240" cy="164592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447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Portfolio Solver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874519"/>
            <a:ext cx="9144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Z3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874519"/>
            <a:ext cx="9144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CVC4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874519"/>
            <a:ext cx="9144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cvc5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1874519"/>
            <a:ext cx="91440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2E"/>
                </a:solidFill>
              </a:defRPr>
            </a:pPr>
            <a:r>
              <a:t>Custom</a:t>
            </a:r>
          </a:p>
          <a:p>
            <a:pPr algn="ctr">
              <a:defRPr sz="900" b="1">
                <a:solidFill>
                  <a:srgbClr val="1A1A2E"/>
                </a:solidFill>
              </a:defRPr>
            </a:pPr>
            <a:r>
              <a:t>Automata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68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60"/>
                </a:solidFill>
              </a:defRPr>
            </a:pPr>
            <a:r>
              <a:t>Winner-take-all: first solver to answer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Services Powered by Zelkova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S3 Block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Public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Critical path</a:t>
            </a:r>
            <a:br/>
            <a:r>
              <a:t>of every S3 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749039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IAM Access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External access</a:t>
            </a:r>
            <a:br/>
            <a:r>
              <a:t>finding +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749039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AWS Config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s3-bucket-*</a:t>
            </a:r>
            <a:br/>
            <a:r>
              <a:t>managed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749039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VPC Network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Network</a:t>
            </a:r>
            <a:br/>
            <a:r>
              <a:t>reachability proofs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3749039"/>
            <a:ext cx="2011680" cy="640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Amazon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Macie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06060"/>
                </a:solidFill>
              </a:defRPr>
            </a:pPr>
            <a:r>
              <a:t>S3 accessibility</a:t>
            </a:r>
            <a:br/>
            <a:r>
              <a:t>classification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749039"/>
            <a:ext cx="3474720" cy="118872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~1 Billion</a:t>
            </a:r>
          </a:p>
          <a:p>
            <a:pPr algn="ctr">
              <a:defRPr sz="1600" b="1">
                <a:solidFill>
                  <a:srgbClr val="1A1A2E"/>
                </a:solidFill>
              </a:defRPr>
            </a:pPr>
            <a:r>
              <a:t>SMT Queries / Day</a:t>
            </a:r>
          </a:p>
          <a:p>
            <a:pPr algn="ctr">
              <a:defRPr sz="1600" b="1">
                <a:solidFill>
                  <a:srgbClr val="1A1A2E"/>
                </a:solidFill>
              </a:defRPr>
            </a:pPr>
            <a:r>
              <a:t>(CAV 2022 keynote)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Product: IAM Access Analyzer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Customer-facing service since Dec 2019 — 5 major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148840" cy="73152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External Access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Launched 2019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468880"/>
            <a:ext cx="21488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S3, IAM roles, KMS,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Lambda, SQS shared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outside account/org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79" y="1371600"/>
            <a:ext cx="2148840" cy="73152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Policy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79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Launched 2021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2468880"/>
            <a:ext cx="21488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100+ authoring-time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checks for security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anti-patterns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148840" cy="73152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Policy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Launched 2021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68880"/>
            <a:ext cx="21488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CloudTrail-based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least-privilege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policy suggestions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371600"/>
            <a:ext cx="2148840" cy="73152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Custom Policy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Launched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468880"/>
            <a:ext cx="21488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CI/CD integration —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automated reasoning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validates custom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371600"/>
            <a:ext cx="2148840" cy="73152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Unused Access</a:t>
            </a:r>
          </a:p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Analyzer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14884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Launched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468880"/>
            <a:ext cx="21488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Org-wide detection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of unused roles,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permissions,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Customer Impact (Public Quotes)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251960"/>
            <a:ext cx="34747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USAA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Uses Access Analyzer for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data perimeter strategy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251960"/>
            <a:ext cx="34747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GoTo Technologies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"Reduced processing time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from days to minutes"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(custom policy checks in CI/CD)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251960"/>
            <a:ext cx="34747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Attentive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Cleaned up unused roles</a:t>
            </a:r>
          </a:p>
          <a:p>
            <a:pPr algn="l">
              <a:defRPr sz="1000" b="0">
                <a:solidFill>
                  <a:srgbClr val="1A1A2E"/>
                </a:solidFill>
              </a:defRPr>
            </a:pPr>
            <a:r>
              <a:t>and permissions at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Products: Cedar + Amazon Verified Permissions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Purpose-built policy language + managed authorization service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2560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Cedar Language (Open Source, May 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Purpose-built for authorization (RBAC + ABAC)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Designed for analysis: no loops, no UDFs, decidable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Apache 2.0 on GitHub — ~5,700+ stars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Verification-guided development: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    — Dafny formal model of authorizer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    — 100M differential random tests/night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    — Proven: explicit-permit, forbid-overrides-permit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OOPSLA 2023 publication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669280" cy="256032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353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Amazon Verified Permissions (GA, May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Managed Cedar-as-a-service (authorization)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Central policy store, real-time eval, audit logging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Schema validation for entities &amp; actions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Target: app developers needing fine-grained authz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A1A2E"/>
                </a:solidFill>
              </a:defRPr>
            </a:pPr>
            <a:r>
              <a:t>• Not just cloud IAM — application-level authorization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</a:defRPr>
            </a:pPr>
            <a:r>
              <a:t>Named Customers (Public Testimonials)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526280"/>
            <a:ext cx="2011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TELUS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IoT/smart home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26280"/>
            <a:ext cx="2011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Stedi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700M B2B EDI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transactions/mo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526280"/>
            <a:ext cx="2011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Twilio Flex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Contact center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526280"/>
            <a:ext cx="2011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FIS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$50T annual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4526280"/>
            <a:ext cx="201168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  <a:r>
              <a:t>Grosvenor Eng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1.5B building</a:t>
            </a:r>
          </a:p>
          <a:p>
            <a:pPr algn="ctr">
              <a:defRPr sz="1000" b="0">
                <a:solidFill>
                  <a:srgbClr val="1A1A2E"/>
                </a:solidFill>
              </a:defRPr>
            </a:pPr>
            <a:r>
              <a:t>assets managed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Impact — By the Numbers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Scale, testing, and enterprise adoption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900"/>
                </a:solidFill>
              </a:defRPr>
            </a:pPr>
            <a:r>
              <a:t>~1B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SMT Queries/Day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10896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900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Solvers in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716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66928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8E3C"/>
                </a:solidFill>
              </a:defRPr>
            </a:pPr>
            <a:r>
              <a:t>100M+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DRT Tests/Night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961120" y="1463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B1FA2"/>
                </a:solidFill>
              </a:defRPr>
            </a:pPr>
            <a:r>
              <a:t>8+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057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Named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47A1"/>
                </a:solidFill>
              </a:defRPr>
            </a:pPr>
            <a: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Policy Validation</a:t>
            </a:r>
            <a:br/>
            <a:r>
              <a:t>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310896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10896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47A1"/>
                </a:solidFill>
              </a:defRPr>
            </a:pPr>
            <a:r>
              <a:t>700M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794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Stedi req/month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10896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6692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47A1"/>
                </a:solidFill>
              </a:defRPr>
            </a:pPr>
            <a:r>
              <a:t>$50T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94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FIS Annual</a:t>
            </a:r>
            <a:br/>
            <a:r>
              <a:t>Transactions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108960"/>
            <a:ext cx="256032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A1A2E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89611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47A1"/>
                </a:solidFill>
              </a:defRPr>
            </a:pPr>
            <a:r>
              <a:t>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794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</a:defRPr>
            </a:pPr>
            <a:r>
              <a:t>Commercial AWS</a:t>
            </a:r>
            <a:br/>
            <a:r>
              <a:t>Regions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6060"/>
                </a:solidFill>
              </a:defRPr>
            </a:pPr>
            <a:r>
              <a:t>Sources: CAV 2022 keynote, Amazon Science blog, AWS product pages, GitHub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Organizational Investment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Dedicated team, academic credibility, brand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9875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AWS Investment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Dedicated org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Automated Reasoning Group (ARG)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Internal advanced innovation team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Leadership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Neha Rungta (Dir. Applied Science);</a:t>
                      </a:r>
                    </a:p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Mike Hicks (Sr. Principal Scientist)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CAV keynote; Cedar publications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Team composition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Multiple PhD scientists + engineering</a:t>
                      </a:r>
                    </a:p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teams across 5+ services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Job postings, conference papers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Publications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CAV 2022 keynote, OOPSLA 2023 paper,</a:t>
                      </a:r>
                    </a:p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re:Invent talks yearly, Amazon Science blog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Public record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Open source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Cedar SDK (GitHub, Apache 2.0)</a:t>
                      </a:r>
                    </a:p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~5,700+ stars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github.com/cedar-policy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Branding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"Provable Security" — dedicated page,</a:t>
                      </a:r>
                    </a:p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customer testimonials, re:Inforce talks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aws.amazon.com/security/provable-security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Academic collab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Stanford (cvc5 solver)</a:t>
                      </a:r>
                    </a:p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formally verified solver integration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Amazon Science (Feb 2026)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Head-to-Head: Where AWS Leads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Production-grade capabilities with years of hardening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005840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292608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AWS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Microsoft PI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73152" marR="45720" marT="27432" marB="27432">
                    <a:solidFill>
                      <a:srgbClr val="FF990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Public access detection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S3 Block Public Access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N/A (different use case)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Cross-account access detection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IAM Access Analyzer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N/A (different use case)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Policy validation (authoring)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100+ built-in checks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Partial (via analysis)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Policy generation from usage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CloudTrail-based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Unused access detection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Org-wide detection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Custom CI/CD policy checks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Integrated in IAM AA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Possible via CLI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integrated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Managed authz service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Verified Permissions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 service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GA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SMT solver diversity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Portfolio (4 solvers)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Z3 only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Engine verification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✅ Dafny + 100M DRT/night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Planned (Verus design doc)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shipping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Production scale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~1B queries/day, 8 years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Feature branch prototype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production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Enterprise adoption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8+ named public customers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Internal Azure use only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ahead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Academic publications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CAV, OOPSLA, Amazon Sci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None yet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ahead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Marketing/branding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"Provable Security" brand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Not yet branded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AWS ahead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Head-to-Head: Where MS Has Novel Capabilities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Capabilities AWS doesn't offer — all currently prototype stage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905256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3474720"/>
                <a:gridCol w="1463040"/>
              </a:tblGrid>
              <a:tr h="347471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marL="73152" marR="45720" marT="27432" marB="27432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AWS</a:t>
                      </a:r>
                    </a:p>
                  </a:txBody>
                  <a:tcPr marL="73152" marR="45720" marT="27432" marB="27432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Microsoft PI</a:t>
                      </a:r>
                    </a:p>
                  </a:txBody>
                  <a:tcPr marL="73152" marR="45720" marT="27432" marB="27432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MS Maturity</a:t>
                      </a:r>
                    </a:p>
                  </a:txBody>
                  <a:tcPr marL="73152" marR="45720" marT="27432" marB="27432">
                    <a:solidFill>
                      <a:srgbClr val="0078D4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Policy diff (semantic)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regorus diff — proves equivalence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or finds distinguishing input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Policy subsumption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regorus subsumes — proves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new ⊇ old or counterexample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Automatic test generation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regorus gen-tests — full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path-coverage test suite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MC/DC condition coverage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Aviation-grade condition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coverage (--condition-coverage)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Line-targeted coverage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--cover-line / --avoid-line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Dead rule detection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UNSAT path condition =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provably unreachable code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Input synthesis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Limited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(simulation)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Full Z3-driven counterexample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generation with JSON output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SMT dump/inspection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Not exposed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--dump-smt for full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transparency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(working CLI)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  <a:tr h="34747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Rego support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❌ (Cedar only)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Full Rego: loops, UDFs,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partial rules (bounded)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Prototype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(Z3 analysis)</a:t>
                      </a:r>
                    </a:p>
                  </a:txBody>
                  <a:tcPr marL="73152" marR="45720" marT="27432" marB="27432">
                    <a:solidFill>
                      <a:srgbClr val="FFFFFF"/>
                    </a:solidFill>
                  </a:tcPr>
                </a:tc>
              </a:tr>
              <a:tr h="347481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Why denied (root cause)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Limited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(simulation)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MAX-SAT approach designed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Planned</a:t>
                      </a:r>
                    </a:p>
                    <a:p>
                      <a:pPr algn="l"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(not impl.)</a:t>
                      </a:r>
                    </a:p>
                  </a:txBody>
                  <a:tcPr marL="73152" marR="45720" marT="27432" marB="27432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0" y="5486400"/>
            <a:ext cx="11612880" cy="4114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⚠  All MS capabilities above are prototypes on a feature branch (z3-redux). Working CLI demos exist but no production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Language &amp; Expressiveness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Restricted (Cedar) vs. general-purpose (Rego) — tradeoffs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303520" cy="329184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533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Cedar (AWS)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493776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Restricted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RBAC + ABAC model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No loops, no user-defined functions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Analysis is decidable (guaranteed termination)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Entity schema enforced at authoring time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Dafny-verified authorizer (provably correct)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Cannot express iteration over collections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No custom functions (copy-paste patterns)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No partial rules or incremental definitions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Smaller ecosystem (newer, fewer adopters)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5852160" cy="3291840"/>
          </a:xfrm>
          <a:prstGeom prst="roundRect">
            <a:avLst/>
          </a:prstGeom>
          <a:solidFill>
            <a:srgbClr val="E6F2F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35331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</a:defRPr>
            </a:pPr>
            <a:r>
              <a:t>Rego / OPA (Microsoft PI)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548640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General-Purpose with Bounded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31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Industry standard (CNCF graduated project)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Loops, comprehensions, user-defined functions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Partial rules + incremental definitions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JSON Schema support for analysis constraints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8E3C"/>
                </a:solidFill>
              </a:defRPr>
            </a:pPr>
            <a:r>
              <a:t>✅  Also supports Cedar + Azure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Analysis is bounded (loop unrolling depth limit)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More expressive = harder to analyze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Z3 analysis is prototype, not production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53935"/>
                </a:solidFill>
              </a:defRPr>
            </a:pPr>
            <a:r>
              <a:t>❌  No Dafny/Verus proofs of engine (yet)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46320"/>
            <a:ext cx="11430000" cy="5486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606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Key insight: Cedar is easy to analyze because it's restricted. Rego is harder to analyze but covers more real-world policies. MS needs bounded analysis to work reliably at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Takeaways: Where AWS Leads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Structural advantages that are hard to replicate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7772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8 Years of Production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44475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Zelkova has been in the S3 critical path since 2018.</a:t>
            </a:r>
            <a:br/>
            <a:r>
              <a:t>Every S3 policy attachment goes through SMT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3200400" cy="7772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~1 Billion SMT Queries/Day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31343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This scale is a moat. The portfolio solver approach</a:t>
            </a:r>
            <a:br/>
            <a:r>
              <a:t>(Z3 + CVC4 + cvc5 + custom) is battle-tested.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3200400" cy="7772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Named Enterprise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18211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USAA, Bridgewater, GoTo, TELUS, Stedi, Twilio, FIS,</a:t>
            </a:r>
            <a:br/>
            <a:r>
              <a:t>Grosvenor, Attentive — all with public testimonials.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77640"/>
            <a:ext cx="3200400" cy="7772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"Provable Security"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05079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Established marketing category on AWS. Customers</a:t>
            </a:r>
            <a:br/>
            <a:r>
              <a:t>search for it. Dedicated page, re:Inforce presence.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3200400" cy="7772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1A2E"/>
                </a:solidFill>
              </a:defRPr>
            </a:pPr>
            <a:r>
              <a:t>Managed Service (GA)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919472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Amazon Verified Permissions is a pay-as-you-go</a:t>
            </a:r>
            <a:br/>
            <a:r>
              <a:t>managed Cedar authorization service.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Takeaways: Where MS Is Differentiated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Novel prototype capabilities AWS doesn't offer — not yet in production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926080" cy="77724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Policy Diff &amp; Subsumption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4447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Proves two policies equivalent or finds distinguishing input.</a:t>
            </a:r>
            <a:br/>
            <a:r>
              <a:t>Proves new policy ⊇ old. No AWS equivalent.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463040"/>
            <a:ext cx="2011680" cy="594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Prototype (working CLI)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926080" cy="77724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Automatic Test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31343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Auto-generates test suite covering all paths.</a:t>
            </a:r>
            <a:br/>
            <a:r>
              <a:t>MC/DC condition coverage (aviation-grade).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331720"/>
            <a:ext cx="2011680" cy="594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Prototype (working CLI)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2926080" cy="77724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Multi-Language (Rego/Cedar/Azure)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8211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Rego (OPA) is the industry standard. Cedar-only</a:t>
            </a:r>
            <a:br/>
            <a:r>
              <a:t>limits AWS's reach. Regorus engine is production-grade.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200400"/>
            <a:ext cx="2011680" cy="594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Engine: Production</a:t>
            </a:r>
          </a:p>
          <a:p>
            <a:pPr algn="ctr">
              <a:defRPr sz="900" b="0">
                <a:solidFill>
                  <a:srgbClr val="1A1A2E"/>
                </a:solidFill>
              </a:defRPr>
            </a:pPr>
            <a:r>
              <a:t>Z3: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40"/>
            <a:ext cx="2926080" cy="77724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Dead Rule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05079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UNSAT path conditions provably identify unreachable</a:t>
            </a:r>
            <a:br/>
            <a:r>
              <a:t>code. Novel — no AWS counterpart.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4069080"/>
            <a:ext cx="2011680" cy="594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Prototype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2926080" cy="77724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A1A2E"/>
                </a:solidFill>
              </a:defRPr>
            </a:pPr>
            <a:r>
              <a:t>Full Rego Expressiveness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91947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</a:defRPr>
            </a:pPr>
            <a:r>
              <a:t>Loops, user-defined functions, partial rules.</a:t>
            </a:r>
            <a:br/>
            <a:r>
              <a:t>Cedar can't express these by design.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4937760"/>
            <a:ext cx="2011680" cy="5943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1A1A2E"/>
                </a:solidFill>
              </a:defRPr>
            </a:pPr>
            <a:r>
              <a:t>Prototype (Z3 analysis)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Strategic Recommendations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Where to focus given the competitive landscape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280160"/>
            <a:ext cx="411480" cy="411480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80160"/>
            <a:ext cx="2103120" cy="822960"/>
          </a:xfrm>
          <a:prstGeom prst="roundRect">
            <a:avLst/>
          </a:prstGeom>
          <a:solidFill>
            <a:srgbClr val="FFCDD2"/>
          </a:solidFill>
          <a:ln w="254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Don't Compete on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IAM Posture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325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AWS Access Analyzer owns this space (5 features, production since 2019). Focus on analysis capabilities AWS lacks: diff, subsumes, test gen.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2697480"/>
            <a:ext cx="411480" cy="411480"/>
          </a:xfrm>
          <a:prstGeom prst="ellipse">
            <a:avLst/>
          </a:prstGeom>
          <a:solidFill>
            <a:srgbClr val="FF8F00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2103120" cy="82296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Harden the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diff / subsumes / gen-tests are novel but need production-quality testing, performance, and documentation before head-to-head comparison.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4114800"/>
            <a:ext cx="411480" cy="41148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14800"/>
            <a:ext cx="2103120" cy="82296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Rego Is the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Wedge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1605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Most enterprises use OPA/Rego. Cedar adoption is growing but smaller. Regorus engine is already production-grade — leverage it.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1280160"/>
            <a:ext cx="411480" cy="411480"/>
          </a:xfrm>
          <a:prstGeom prst="ellipse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1280160"/>
            <a:ext cx="2103120" cy="82296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Publish the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RVM-to-Z3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32588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AWS has CAV keynote + OOPSLA paper. Publish the symbolic translation to establish academic credibility. The approach is novel.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2697480"/>
            <a:ext cx="411480" cy="411480"/>
          </a:xfrm>
          <a:prstGeom prst="ellipse">
            <a:avLst/>
          </a:prstGeom>
          <a:solidFill>
            <a:srgbClr val="7B1FA2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697480"/>
            <a:ext cx="2103120" cy="822960"/>
          </a:xfrm>
          <a:prstGeom prst="roundRect">
            <a:avLst/>
          </a:prstGeom>
          <a:solidFill>
            <a:srgbClr val="E1BEE7"/>
          </a:solidFill>
          <a:ln w="2540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Ship Then Brand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7432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AWS "Provable Security" is built on years of production use. Ship features first, then create the marketing narrative.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4114800"/>
            <a:ext cx="411480" cy="411480"/>
          </a:xfrm>
          <a:prstGeom prst="ellipse">
            <a:avLst/>
          </a:prstGeom>
          <a:solidFill>
            <a:srgbClr val="00897B"/>
          </a:solidFill>
          <a:ln w="25400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114800"/>
            <a:ext cx="2103120" cy="822960"/>
          </a:xfrm>
          <a:prstGeom prst="roundRect">
            <a:avLst/>
          </a:prstGeom>
          <a:solidFill>
            <a:srgbClr val="B2DFDB"/>
          </a:solidFill>
          <a:ln w="25400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</a:defRPr>
            </a:pPr>
            <a:r>
              <a:t>Get Customer</a:t>
            </a:r>
          </a:p>
          <a:p>
            <a:pPr algn="ctr">
              <a:defRPr sz="1100" b="1">
                <a:solidFill>
                  <a:srgbClr val="1A1A2E"/>
                </a:solidFill>
              </a:defRPr>
            </a:pPr>
            <a:r>
              <a:t>Proof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1605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</a:defRPr>
            </a:pPr>
            <a:r>
              <a:t>The #1 gap vs AWS is named customers willing to speak publicly. Start with internal Azure teams, then ISVs.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474720" cy="548640"/>
          </a:xfrm>
          <a:prstGeom prst="roundRect">
            <a:avLst/>
          </a:prstGeom>
          <a:solidFill>
            <a:srgbClr val="FFE8CC"/>
          </a:solidFill>
          <a:ln w="254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AWS Has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8 years of production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~1B SMT queries/day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723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Zelkova + IAM AA + Cedar + AVP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198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"Provable Security"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67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8+ named enterprise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CAV keynote + OOPSLA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74720" cy="548640"/>
          </a:xfrm>
          <a:prstGeom prst="roundRect">
            <a:avLst/>
          </a:prstGeom>
          <a:solidFill>
            <a:srgbClr val="CCE4F7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MS Has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Novel: diff, subsumes, gen-tests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MC/DC condition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0723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Dead rule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4198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Multi-language (Rego + Cedar)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767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Regorus engine: production-grade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114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~10K lines of analysis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737360"/>
            <a:ext cx="3474720" cy="548640"/>
          </a:xfrm>
          <a:prstGeom prst="roundRect">
            <a:avLst/>
          </a:prstGeom>
          <a:solidFill>
            <a:srgbClr val="C8E6C9"/>
          </a:solidFill>
          <a:ln w="25400">
            <a:solidFill>
              <a:srgbClr val="388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MS Needs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Harden prototypes to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Publish the RVM-to-Z3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723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Get customer proof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1985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Implement Verus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673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Ship features before branding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14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•  Close the credibility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CAF9"/>
                </a:solidFill>
              </a:defRPr>
            </a:pPr>
            <a:r>
              <a:t>All data from public sources  •  Feb 2026  •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Sources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All data from publicly available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1.  AWS Security Blog — Zelkova (Jun 2018)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2.  AWS IAM Access Analyzer product page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3.  AWS IAM Access Analyzer features page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4.  Amazon Science — "A Billion SMT Queries a Day" (CAV 2022 keynote)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5.  Amazon Science — Cedar verification-guided development (May 2023)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6.  AWS Security Blog — IAM Access Analyzer policy generation (Apr 2021)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7.  Amazon Verified Permissions product page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8.  AWS Provable Security page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9.  Cedar policy language website (cedarpolicy.com)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10. Cedar GitHub repository (github.com/cedar-policy)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11. Amazon Science — Academic collaboration on cvc5 (Feb 2026)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1A2E"/>
                </a:solidFill>
              </a:defRPr>
            </a:pPr>
            <a:r>
              <a:t>12. Internal: rvm-to-z3.md — comparison table (Section 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</a:defRPr>
            </a:pPr>
            <a:r>
              <a:t>Full comparison document: docs/diagrams/AWS_Policy_Analysis_Comparison.md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