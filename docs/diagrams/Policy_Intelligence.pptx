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— Policy Intelligence</a:t>
            </a:r>
          </a:p>
          <a:p/>
          <a:p>
            <a:r>
              <a:t>Talking points:</a:t>
            </a:r>
          </a:p>
          <a:p>
            <a:r>
              <a:t>• Regorus is Microsoft's Rego policy engine (open source).</a:t>
            </a:r>
          </a:p>
          <a:p>
            <a:r>
              <a:t>• "Policy Intelligence" = the Z3 symbolic-analysis layer on top.</a:t>
            </a:r>
          </a:p>
          <a:p>
            <a:r>
              <a:t>• Works with Rego (OPA), Cedar (AWS), and Azure Policy definitions.</a:t>
            </a:r>
          </a:p>
          <a:p>
            <a:r>
              <a:t>• One engine — multiple policy languages, all get formal guarantees.</a:t>
            </a:r>
          </a:p>
          <a:p/>
          <a:p>
            <a:r>
              <a:t>SETUP (run once before the presentation):</a:t>
            </a:r>
          </a:p>
          <a:p>
            <a:r>
              <a:t>  cd /path/to/regorus</a:t>
            </a:r>
          </a:p>
          <a:p>
            <a:r>
              <a:t>  cargo build --example regorus --features z3-analysis,cedar,azure_policy</a:t>
            </a:r>
          </a:p>
          <a:p>
            <a:r>
              <a:t>  export BIN="target/debug/examples/regorus"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THEOREM PROVING? — Z3 Introduction</a:t>
            </a:r>
          </a:p>
          <a:p/>
          <a:p>
            <a:r>
              <a:t>Talking points:</a:t>
            </a:r>
          </a:p>
          <a:p>
            <a:r>
              <a:t>• Traditional testing: pick some inputs, run them, hope for the best.</a:t>
            </a:r>
          </a:p>
          <a:p>
            <a:r>
              <a:t>• Theorem proving: check ALL inputs at once using mathematical reasoning.</a:t>
            </a:r>
          </a:p>
          <a:p>
            <a:r>
              <a:t>• Z3 is an SMT solver built by Microsoft Research — one of the most</a:t>
            </a:r>
          </a:p>
          <a:p>
            <a:r>
              <a:t>  widely used theorem provers in the world.</a:t>
            </a:r>
          </a:p>
          <a:p>
            <a:r>
              <a:t>• Key concepts for the audience:</a:t>
            </a:r>
          </a:p>
          <a:p>
            <a:r>
              <a:t>  - SAT = "satisfiable" — Z3 found a concrete input (and returns it).</a:t>
            </a:r>
          </a:p>
          <a:p>
            <a:r>
              <a:t>  - UNSAT = "unsatisfiable" — Z3 mathematically proved no such input exists.</a:t>
            </a:r>
          </a:p>
          <a:p>
            <a:r>
              <a:t>• Used in: Windows driver verification, Azure, AWS, compilers, cryptography.</a:t>
            </a:r>
          </a:p>
          <a:p>
            <a:r>
              <a:t>• Our contribution: translate policy languages into Z3 constraints automatically.</a:t>
            </a:r>
          </a:p>
          <a:p/>
          <a:p>
            <a:r>
              <a:t>Analogy for PM audience:</a:t>
            </a:r>
          </a:p>
          <a:p>
            <a:r>
              <a:t>  "Unit tests are flashlights that illuminate spots in a dark room.</a:t>
            </a:r>
          </a:p>
          <a:p>
            <a:r>
              <a:t>   Z3 is a floodlight that illuminates the entire room at once."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→ SMT: UNDER THE HOOD</a:t>
            </a:r>
          </a:p>
          <a:p/>
          <a:p>
            <a:r>
              <a:t>Talking points:</a:t>
            </a:r>
          </a:p>
          <a:p>
            <a:r>
              <a:t>• Show a Cedar policy (2 rules: permit + forbid) on the left.</a:t>
            </a:r>
          </a:p>
          <a:p>
            <a:r>
              <a:t>• Show the auto-generated SMT constraints on the right.</a:t>
            </a:r>
          </a:p>
          <a:p>
            <a:r>
              <a:t>• Walk through the correspondence:</a:t>
            </a:r>
          </a:p>
          <a:p>
            <a:r>
              <a:t>  - Each input field becomes a Z3 variable (declare-fun).</a:t>
            </a:r>
          </a:p>
          <a:p>
            <a:r>
              <a:t>  - The permit condition becomes an AND of constraints.</a:t>
            </a:r>
          </a:p>
          <a:p>
            <a:r>
              <a:t>  - The forbid condition becomes a negated AND.</a:t>
            </a:r>
          </a:p>
          <a:p>
            <a:r>
              <a:t>  - String patterns like "10.*" become regex constraints (str.in_re).</a:t>
            </a:r>
          </a:p>
          <a:p>
            <a:r>
              <a:t>• The bottom shows Z3's answer: a concrete JSON input that satisfies all constraints.</a:t>
            </a:r>
          </a:p>
          <a:p>
            <a:r>
              <a:t>• This is fully automatic — the presenter never writes SMT by hand.</a:t>
            </a:r>
          </a:p>
          <a:p/>
          <a:p>
            <a:r>
              <a:t>DEMO — Generate the SMT yourself:</a:t>
            </a:r>
          </a:p>
          <a:p>
            <a:r>
              <a:t>  regorus analyze \</a:t>
            </a:r>
          </a:p>
          <a:p>
            <a:r>
              <a:t>    -d examples/cedar/examples/iam_zero_trust/policy.cedar \</a:t>
            </a:r>
          </a:p>
          <a:p>
            <a:r>
              <a:t>    -d examples/cedar/examples/iam_zero_trust/entities.json \</a:t>
            </a:r>
          </a:p>
          <a:p>
            <a:r>
              <a:t>    -e cedar.authorize -o 1 \</a:t>
            </a:r>
          </a:p>
          <a:p>
            <a:r>
              <a:t>    --dump-smt /tmp/cedar_iam.smt2</a:t>
            </a:r>
          </a:p>
          <a:p/>
          <a:p>
            <a:r>
              <a:t>  cat /tmp/cedar_iam.smt2</a:t>
            </a:r>
          </a:p>
          <a:p>
            <a:r>
              <a:t>  → Shows the exact SMT encoding from the slide.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— From Policies to Proven Guarantees</a:t>
            </a:r>
          </a:p>
          <a:p/>
          <a:p>
            <a:r>
              <a:t>Talking points:</a:t>
            </a:r>
          </a:p>
          <a:p>
            <a:r>
              <a:t>• Three inputs: policy files, optional JSON schema, reference data.</a:t>
            </a:r>
          </a:p>
          <a:p>
            <a:r>
              <a:t>• Engine compiles to RVM bytecode, translates to Z3 SMT constraints.</a:t>
            </a:r>
          </a:p>
          <a:p>
            <a:r>
              <a:t>• Four outputs: test suites, change impact, root cause, compliance proofs.</a:t>
            </a:r>
          </a:p>
          <a:p/>
          <a:p>
            <a:r>
              <a:t>DEMO — Show basic analysis (synthesize an input):</a:t>
            </a:r>
          </a:p>
          <a:p>
            <a:r>
              <a:t>  regorus analyze \</a:t>
            </a:r>
          </a:p>
          <a:p>
            <a:r>
              <a:t>    -d examples/demos/container_admission.rego \</a:t>
            </a:r>
          </a:p>
          <a:p>
            <a:r>
              <a:t>    -e data.container_admission.allow \</a:t>
            </a:r>
          </a:p>
          <a:p>
            <a:r>
              <a:t>    -o false \</a:t>
            </a:r>
          </a:p>
          <a:p>
            <a:r>
              <a:t>    -i examples/demos/container_admission_input.json \</a:t>
            </a:r>
          </a:p>
          <a:p>
            <a:r>
              <a:t>    -s examples/demos/container_admission_schema.json \</a:t>
            </a:r>
          </a:p>
          <a:p>
            <a:r>
              <a:t>    --max-loops 3</a:t>
            </a:r>
          </a:p>
          <a:p/>
          <a:p>
            <a:r>
              <a:t>  → Z3 instantly produces a concrete JSON input that violates the policy.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AUTOMATED TEST GENERATION — Zero Manual Effort, Full Coverage</a:t>
            </a:r>
          </a:p>
          <a:p/>
          <a:p>
            <a:r>
              <a:t>Talking points:</a:t>
            </a:r>
          </a:p>
          <a:p>
            <a:r>
              <a:t>• Today: engineers write tests by hand, miss edge cases, leave gaps.</a:t>
            </a:r>
          </a:p>
          <a:p>
            <a:r>
              <a:t>• With PI: one command → mathematically complete test suite.</a:t>
            </a:r>
          </a:p>
          <a:p>
            <a:r>
              <a:t>• Every reachable decision path gets at least one test.</a:t>
            </a:r>
          </a:p>
          <a:p/>
          <a:p>
            <a:r>
              <a:t>DEMO — Generate tests for the server policy:</a:t>
            </a:r>
          </a:p>
          <a:p>
            <a:r>
              <a:t>  regorus gen-tests \</a:t>
            </a:r>
          </a:p>
          <a:p>
            <a:r>
              <a:t>    -d examples/server/allowed_server.rego \</a:t>
            </a:r>
          </a:p>
          <a:p>
            <a:r>
              <a:t>    -e data.example.allow \</a:t>
            </a:r>
          </a:p>
          <a:p>
            <a:r>
              <a:t>    -i examples/server/input.json \</a:t>
            </a:r>
          </a:p>
          <a:p>
            <a:r>
              <a:t>    -s examples/server/input_schema.json \</a:t>
            </a:r>
          </a:p>
          <a:p>
            <a:r>
              <a:t>    --max-loops 3 --max-tests 10</a:t>
            </a:r>
          </a:p>
          <a:p/>
          <a:p>
            <a:r>
              <a:t>  → Shows JSON array of auto-generated test cases.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 POLICY MIGRATION — Prove Equivalence Before You Deploy</a:t>
            </a:r>
          </a:p>
          <a:p/>
          <a:p>
            <a:r>
              <a:t>Talking points:</a:t>
            </a:r>
          </a:p>
          <a:p>
            <a:r>
              <a:t>• Policy refactors are risky — how do you know behavior didn't change?</a:t>
            </a:r>
          </a:p>
          <a:p>
            <a:r>
              <a:t>• PI compares ALL possible inputs, not just a sample.</a:t>
            </a:r>
          </a:p>
          <a:p>
            <a:r>
              <a:t>• If identical: UNSAT proof. If different: exact counterexample.</a:t>
            </a:r>
          </a:p>
          <a:p/>
          <a:p>
            <a:r>
              <a:t>DEMO — Diff two network segmentation versions:</a:t>
            </a:r>
          </a:p>
          <a:p>
            <a:r>
              <a:t>  regorus diff \</a:t>
            </a:r>
          </a:p>
          <a:p>
            <a:r>
              <a:t>    --policy1 examples/demos/network_segmentation.rego \</a:t>
            </a:r>
          </a:p>
          <a:p>
            <a:r>
              <a:t>    --policy2 examples/demos/network_segmentation_v2.rego \</a:t>
            </a:r>
          </a:p>
          <a:p>
            <a:r>
              <a:t>    -e data.network_segmentation.compliant \</a:t>
            </a:r>
          </a:p>
          <a:p>
            <a:r>
              <a:t>    -i examples/demos/network_segmentation_input.json \</a:t>
            </a:r>
          </a:p>
          <a:p>
            <a:r>
              <a:t>    -s examples/demos/network_segmentation_schema.json \</a:t>
            </a:r>
          </a:p>
          <a:p>
            <a:r>
              <a:t>    --max-loops 3</a:t>
            </a:r>
          </a:p>
          <a:p/>
          <a:p>
            <a:r>
              <a:t>  → Z3 finds a PII-related input where v1 and v2 disagree.</a:t>
            </a:r>
          </a:p>
          <a:p/>
          <a:p>
            <a:r>
              <a:t>DEMO — Subsumption check (is v2 at least as permissive as v1?):</a:t>
            </a:r>
          </a:p>
          <a:p>
            <a:r>
              <a:t>  regorus subsumes \</a:t>
            </a:r>
          </a:p>
          <a:p>
            <a:r>
              <a:t>    --old examples/demos/network_segmentation.rego \</a:t>
            </a:r>
          </a:p>
          <a:p>
            <a:r>
              <a:t>    --new examples/demos/network_segmentation_v2.rego \</a:t>
            </a:r>
          </a:p>
          <a:p>
            <a:r>
              <a:t>    -e data.network_segmentation.compliant \</a:t>
            </a:r>
          </a:p>
          <a:p>
            <a:r>
              <a:t>    -i examples/demos/network_segmentation_input.json \</a:t>
            </a:r>
          </a:p>
          <a:p>
            <a:r>
              <a:t>    -s examples/demos/network_segmentation_schema.json \</a:t>
            </a:r>
          </a:p>
          <a:p>
            <a:r>
              <a:t>    --max-loops 3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DENIED — Pinpoint the Exact Failing Condition</a:t>
            </a:r>
          </a:p>
          <a:p/>
          <a:p>
            <a:r>
              <a:t>Talking points:</a:t>
            </a:r>
          </a:p>
          <a:p>
            <a:r>
              <a:t>• Support tickets: "Why was my request blocked?"</a:t>
            </a:r>
          </a:p>
          <a:p>
            <a:r>
              <a:t>• PI uses MAX-SAT to find the minimal set of failing conditions.</a:t>
            </a:r>
          </a:p>
          <a:p>
            <a:r>
              <a:t>• Shows which specific condition failed AND how to fix it.</a:t>
            </a:r>
          </a:p>
          <a:p/>
          <a:p>
            <a:r>
              <a:t>DEMO — Targeted analysis (cover a specific deny line):</a:t>
            </a:r>
          </a:p>
          <a:p>
            <a:r>
              <a:t>  regorus analyze \</a:t>
            </a:r>
          </a:p>
          <a:p>
            <a:r>
              <a:t>    -d examples/demos/ags_group_governance.rego \</a:t>
            </a:r>
          </a:p>
          <a:p>
            <a:r>
              <a:t>    -e data.graph.elm_governance_group_membership.deny_result \</a:t>
            </a:r>
          </a:p>
          <a:p>
            <a:r>
              <a:t>    -o true \</a:t>
            </a:r>
          </a:p>
          <a:p>
            <a:r>
              <a:t>    -i examples/demos/ags_group_governance_input.json \</a:t>
            </a:r>
          </a:p>
          <a:p>
            <a:r>
              <a:t>    -s examples/demos/ags_group_governance_schema.json</a:t>
            </a:r>
          </a:p>
          <a:p/>
          <a:p>
            <a:r>
              <a:t>  → Z3 produces an input that triggers the deny path,</a:t>
            </a:r>
          </a:p>
          <a:p>
            <a:r>
              <a:t>    showing which condition (e.g., managedState != "enforced") caused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PROOFS — Mathematical Guarantees</a:t>
            </a:r>
          </a:p>
          <a:p/>
          <a:p>
            <a:r>
              <a:t>Talking points:</a:t>
            </a:r>
          </a:p>
          <a:p>
            <a:r>
              <a:t>• "Can any request bypass this rule?" → UNSAT = impossible.</a:t>
            </a:r>
          </a:p>
          <a:p>
            <a:r>
              <a:t>• "Is the new policy at least as restrictive?" → Subsumption proof.</a:t>
            </a:r>
          </a:p>
          <a:p>
            <a:r>
              <a:t>• "Are there unreachable (dead) rules?" → Z3 checks reachability.</a:t>
            </a:r>
          </a:p>
          <a:p/>
          <a:p>
            <a:r>
              <a:t>DEMO — Prove v2 subsumes v1 (stricter deny behavior):</a:t>
            </a:r>
          </a:p>
          <a:p>
            <a:r>
              <a:t>  regorus subsumes \</a:t>
            </a:r>
          </a:p>
          <a:p>
            <a:r>
              <a:t>    --old examples/demos/azure_storage_https_v1_definition.json \</a:t>
            </a:r>
          </a:p>
          <a:p>
            <a:r>
              <a:t>    --new examples/demos/azure_storage_https_v2_definition.json \</a:t>
            </a:r>
          </a:p>
          <a:p>
            <a:r>
              <a:t>    -e main -o '"deny"' \</a:t>
            </a:r>
          </a:p>
          <a:p>
            <a:r>
              <a:t>    --azure-aliases examples/demos/azure_policy_aliases.json \</a:t>
            </a:r>
          </a:p>
          <a:p>
            <a:r>
              <a:t>    -i examples/demos/azure_storage_input.json \</a:t>
            </a:r>
          </a:p>
          <a:p>
            <a:r>
              <a:t>    -s examples/demos/azure_storage_schema.json \</a:t>
            </a:r>
          </a:p>
          <a:p>
            <a:r>
              <a:t>    --max-loops 3</a:t>
            </a:r>
          </a:p>
          <a:p/>
          <a:p>
            <a:r>
              <a:t>  → "New subsumes old" = v2 denies everything v1 denies (and more).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MC/DC CONDITION COVERAGE — Aviation-Grade Testing</a:t>
            </a:r>
          </a:p>
          <a:p/>
          <a:p>
            <a:r>
              <a:t>Talking points:</a:t>
            </a:r>
          </a:p>
          <a:p>
            <a:r>
              <a:t>• MC/DC (Modified Condition/Decision Coverage) is required by DO-178C.</a:t>
            </a:r>
          </a:p>
          <a:p>
            <a:r>
              <a:t>• Each condition is independently shown to affect the outcome.</a:t>
            </a:r>
          </a:p>
          <a:p>
            <a:r>
              <a:t>• Applied here to policy rules, not avionics — same rigor.</a:t>
            </a:r>
          </a:p>
          <a:p/>
          <a:p>
            <a:r>
              <a:t>DEMO — Generate MC/DC tests for the AGS policy:</a:t>
            </a:r>
          </a:p>
          <a:p>
            <a:r>
              <a:t>  regorus gen-tests \</a:t>
            </a:r>
          </a:p>
          <a:p>
            <a:r>
              <a:t>    -d examples/demos/ags_group_governance.rego \</a:t>
            </a:r>
          </a:p>
          <a:p>
            <a:r>
              <a:t>    -e data.graph.elm_governance_group_membership.deny_result \</a:t>
            </a:r>
          </a:p>
          <a:p>
            <a:r>
              <a:t>    -i examples/demos/ags_group_governance_input.json \</a:t>
            </a:r>
          </a:p>
          <a:p>
            <a:r>
              <a:t>    -s examples/demos/ags_group_governance_schema.json \</a:t>
            </a:r>
          </a:p>
          <a:p>
            <a:r>
              <a:t>    --condition-coverage \</a:t>
            </a:r>
          </a:p>
          <a:p>
            <a:r>
              <a:t>    --format annotated</a:t>
            </a:r>
          </a:p>
          <a:p/>
          <a:p>
            <a:r>
              <a:t>  → 23 tests, 46/46 condition goals, 100% MC/DC.</a:t>
            </a:r>
          </a:p>
          <a:p>
            <a:r>
              <a:t>  → The "annotated" format shows each condition's T/F per test.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— AGS Group Governance Policy</a:t>
            </a:r>
          </a:p>
          <a:p/>
          <a:p>
            <a:r>
              <a:t>Talking points:</a:t>
            </a:r>
          </a:p>
          <a:p>
            <a:r>
              <a:t>• Real Azure policy with 5 decision paths.</a:t>
            </a:r>
          </a:p>
          <a:p>
            <a:r>
              <a:t>• Z3 automatically finds an input for each path.</a:t>
            </a:r>
          </a:p>
          <a:p>
            <a:r>
              <a:t>• Show the annotated output — each test covers specific conditions.</a:t>
            </a:r>
          </a:p>
          <a:p/>
          <a:p>
            <a:r>
              <a:t>DEMO — Same command as MC/DC slide (with annotated output):</a:t>
            </a:r>
          </a:p>
          <a:p>
            <a:r>
              <a:t>  regorus gen-tests \</a:t>
            </a:r>
          </a:p>
          <a:p>
            <a:r>
              <a:t>    -d examples/demos/ags_group_governance.rego \</a:t>
            </a:r>
          </a:p>
          <a:p>
            <a:r>
              <a:t>    -e data.graph.elm_governance_group_membership.deny_result \</a:t>
            </a:r>
          </a:p>
          <a:p>
            <a:r>
              <a:t>    -i examples/demos/ags_group_governance_input.json \</a:t>
            </a:r>
          </a:p>
          <a:p>
            <a:r>
              <a:t>    -s examples/demos/ags_group_governance_schema.json \</a:t>
            </a:r>
          </a:p>
          <a:p>
            <a:r>
              <a:t>    --condition-coverage --format annotated</a:t>
            </a:r>
          </a:p>
          <a:p/>
          <a:p>
            <a:r>
              <a:t>  → Walk through the annotated source listing: each line shows</a:t>
            </a:r>
          </a:p>
          <a:p>
            <a:r>
              <a:t>    which tests cover it and what condition values they use.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RESULTS — AGS Group Governance Policy</a:t>
            </a:r>
          </a:p>
          <a:p/>
          <a:p>
            <a:r>
              <a:t>Talking points:</a:t>
            </a:r>
          </a:p>
          <a:p>
            <a:r>
              <a:t>• 139-line policy, 5 decision paths.</a:t>
            </a:r>
          </a:p>
          <a:p>
            <a:r>
              <a:t>• 23 auto-generated tests, 34/34 lines, 46/46 MC/DC conditions.</a:t>
            </a:r>
          </a:p>
          <a:p>
            <a:r>
              <a:t>• Zero manual effort — all from one command.</a:t>
            </a:r>
          </a:p>
          <a:p/>
          <a:p>
            <a:r>
              <a:t>DEMO — Show JSON output format:</a:t>
            </a:r>
          </a:p>
          <a:p>
            <a:r>
              <a:t>  regorus gen-tests \</a:t>
            </a:r>
          </a:p>
          <a:p>
            <a:r>
              <a:t>    -d examples/demos/ags_group_governance.rego \</a:t>
            </a:r>
          </a:p>
          <a:p>
            <a:r>
              <a:t>    -e data.graph.elm_governance_group_membership.deny_result \</a:t>
            </a:r>
          </a:p>
          <a:p>
            <a:r>
              <a:t>    -i examples/demos/ags_group_governance_input.json \</a:t>
            </a:r>
          </a:p>
          <a:p>
            <a:r>
              <a:t>    -s examples/demos/ags_group_governance_schema.json \</a:t>
            </a:r>
          </a:p>
          <a:p>
            <a:r>
              <a:t>    --condition-coverage --format json | head -80</a:t>
            </a:r>
          </a:p>
          <a:p/>
          <a:p>
            <a:r>
              <a:t>  → Scroll through the JSON — each test has input fields and</a:t>
            </a:r>
          </a:p>
          <a:p>
            <a:r>
              <a:t>    the lines/conditions it covers.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 — What's Next</a:t>
            </a:r>
          </a:p>
          <a:p/>
          <a:p>
            <a:r>
              <a:t>Talking points:</a:t>
            </a:r>
          </a:p>
          <a:p>
            <a:r>
              <a:t>• "Everything you've seen so far works today — one command."</a:t>
            </a:r>
          </a:p>
          <a:p>
            <a:r>
              <a:t>• "Now let's look at high-impact scenarios this unlocks."</a:t>
            </a:r>
          </a:p>
          <a:p>
            <a:r>
              <a:t>• Use this as a natural pause / audience check-in.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 + POLICY INTELLIGENCE</a:t>
            </a:r>
          </a:p>
          <a:p/>
          <a:p>
            <a:r>
              <a:t>Talking points:</a:t>
            </a:r>
          </a:p>
          <a:p>
            <a:r>
              <a:t>• Vision: Copilot generates policy from natural language intent.</a:t>
            </a:r>
          </a:p>
          <a:p>
            <a:r>
              <a:t>• PI verifies the generated policy against formal properties.</a:t>
            </a:r>
          </a:p>
          <a:p>
            <a:r>
              <a:t>• If a violation is found, the counterexample is fed back as an</a:t>
            </a:r>
          </a:p>
          <a:p>
            <a:r>
              <a:t>  auto-fix prompt — Copilot iterates until the proof passes.</a:t>
            </a:r>
          </a:p>
          <a:p>
            <a:r>
              <a:t>• Every AI-generated policy gets a math proof before production.</a:t>
            </a:r>
          </a:p>
          <a:p/>
          <a:p>
            <a:r>
              <a:t>(No live demo — this is a future integration concept.)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 REVIEW BOT — Policy Diff in CI</a:t>
            </a:r>
          </a:p>
          <a:p/>
          <a:p>
            <a:r>
              <a:t>Talking points:</a:t>
            </a:r>
          </a:p>
          <a:p>
            <a:r>
              <a:t>• Every PR that modifies a .rego file triggers a formal diff.</a:t>
            </a:r>
          </a:p>
          <a:p>
            <a:r>
              <a:t>• If behavior is identical: auto-approve.</a:t>
            </a:r>
          </a:p>
          <a:p>
            <a:r>
              <a:t>• If behavior changes: the PR comment shows exact inputs with</a:t>
            </a:r>
          </a:p>
          <a:p>
            <a:r>
              <a:t>  before/after outcomes.</a:t>
            </a:r>
          </a:p>
          <a:p>
            <a:r>
              <a:t>• Wider access detected → mandatory security review.</a:t>
            </a:r>
          </a:p>
          <a:p/>
          <a:p>
            <a:r>
              <a:t>DEMO — Simulate a PR diff (v1 → v2):</a:t>
            </a:r>
          </a:p>
          <a:p>
            <a:r>
              <a:t>  regorus diff \</a:t>
            </a:r>
          </a:p>
          <a:p>
            <a:r>
              <a:t>    --policy1 examples/server/allowed_server.rego \</a:t>
            </a:r>
          </a:p>
          <a:p>
            <a:r>
              <a:t>    --policy2 examples/server/allowed_server_v2.rego \</a:t>
            </a:r>
          </a:p>
          <a:p>
            <a:r>
              <a:t>    -e data.example.allow \</a:t>
            </a:r>
          </a:p>
          <a:p>
            <a:r>
              <a:t>    -i examples/server/input.json \</a:t>
            </a:r>
          </a:p>
          <a:p>
            <a:r>
              <a:t>    -s examples/server/input_schema.json \</a:t>
            </a:r>
          </a:p>
          <a:p>
            <a:r>
              <a:t>    --max-loops 3</a:t>
            </a:r>
          </a:p>
          <a:p/>
          <a:p>
            <a:r>
              <a:t>  → Z3 finds: telnet server allowed by v2, denied by v1.</a:t>
            </a:r>
          </a:p>
          <a:p>
            <a:r>
              <a:t>  → This is exactly what the PR bot would post as a comment.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SHADOW MODE — WITHOUT THE SHADOW</a:t>
            </a:r>
          </a:p>
          <a:p/>
          <a:p>
            <a:r>
              <a:t>Talking points:</a:t>
            </a:r>
          </a:p>
          <a:p>
            <a:r>
              <a:t>• Shadow mode: deploy to separate fleet, wait days/weeks.</a:t>
            </a:r>
          </a:p>
          <a:p>
            <a:r>
              <a:t>• PI: compare old vs new in seconds, covering ALL inputs.</a:t>
            </a:r>
          </a:p>
          <a:p>
            <a:r>
              <a:t>• Example: "99.7% identical, 0.3% affected: contractors on internal-docs."</a:t>
            </a:r>
          </a:p>
          <a:p>
            <a:r>
              <a:t>• No infrastructure cost, no traffic dependency.</a:t>
            </a:r>
          </a:p>
          <a:p/>
          <a:p>
            <a:r>
              <a:t>DEMO — Diff as an instant "shadow mode":</a:t>
            </a:r>
          </a:p>
          <a:p>
            <a:r>
              <a:t>  regorus diff \</a:t>
            </a:r>
          </a:p>
          <a:p>
            <a:r>
              <a:t>    --policy1 examples/demos/network_segmentation.rego \</a:t>
            </a:r>
          </a:p>
          <a:p>
            <a:r>
              <a:t>    --policy2 examples/demos/network_segmentation_v2.rego \</a:t>
            </a:r>
          </a:p>
          <a:p>
            <a:r>
              <a:t>    -e data.network_segmentation.compliant \</a:t>
            </a:r>
          </a:p>
          <a:p>
            <a:r>
              <a:t>    -i examples/demos/network_segmentation_input.json \</a:t>
            </a:r>
          </a:p>
          <a:p>
            <a:r>
              <a:t>    -s examples/demos/network_segmentation_schema.json \</a:t>
            </a:r>
          </a:p>
          <a:p>
            <a:r>
              <a:t>    --max-loops 3</a:t>
            </a:r>
          </a:p>
          <a:p/>
          <a:p>
            <a:r>
              <a:t>  → "This is what shadow mode does in weeks — we do it in seconds."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REGULATORY IMPACT ANALYSIS</a:t>
            </a:r>
          </a:p>
          <a:p/>
          <a:p>
            <a:r>
              <a:t>Talking points:</a:t>
            </a:r>
          </a:p>
          <a:p>
            <a:r>
              <a:t>• Formalize a regulation as a property (e.g., MFA for PII).</a:t>
            </a:r>
          </a:p>
          <a:p>
            <a:r>
              <a:t>• Scan all policies fleet-wide — each result is a math proof.</a:t>
            </a:r>
          </a:p>
          <a:p>
            <a:r>
              <a:t>• Counterexamples show exactly HOW the gap can be exploited.</a:t>
            </a:r>
          </a:p>
          <a:p/>
          <a:p>
            <a:r>
              <a:t>DEMO — Azure Policy: find resources that violate HTTPS-only:</a:t>
            </a:r>
          </a:p>
          <a:p>
            <a:r>
              <a:t>  regorus analyze \</a:t>
            </a:r>
          </a:p>
          <a:p>
            <a:r>
              <a:t>    -d examples/demos/azure_storage_https_v1_definition.json \</a:t>
            </a:r>
          </a:p>
          <a:p>
            <a:r>
              <a:t>    -e main -o '"deny"' \</a:t>
            </a:r>
          </a:p>
          <a:p>
            <a:r>
              <a:t>    --azure-aliases examples/demos/azure_policy_aliases.json \</a:t>
            </a:r>
          </a:p>
          <a:p>
            <a:r>
              <a:t>    -i examples/demos/azure_storage_input.json \</a:t>
            </a:r>
          </a:p>
          <a:p>
            <a:r>
              <a:t>    -s examples/demos/azure_storage_schema.json \</a:t>
            </a:r>
          </a:p>
          <a:p>
            <a:r>
              <a:t>    --max-loops 3</a:t>
            </a:r>
          </a:p>
          <a:p/>
          <a:p>
            <a:r>
              <a:t>  → Z3 finds: supportsHttpsTrafficOnly=false triggers deny.</a:t>
            </a:r>
          </a:p>
          <a:p>
            <a:r>
              <a:t>  → "Now imagine running this across 42 service policies."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SEPARATION OF DUTY — SOX / SOC-2 / HIPAA</a:t>
            </a:r>
          </a:p>
          <a:p/>
          <a:p>
            <a:r>
              <a:t>Talking points:</a:t>
            </a:r>
          </a:p>
          <a:p>
            <a:r>
              <a:t>• Security property: no user can both submit AND approve.</a:t>
            </a:r>
          </a:p>
          <a:p>
            <a:r>
              <a:t>• Z3 exhaustively checks ALL role combinations.</a:t>
            </a:r>
          </a:p>
          <a:p>
            <a:r>
              <a:t>• Proven → mathematical certificate for auditors.</a:t>
            </a:r>
          </a:p>
          <a:p>
            <a:r>
              <a:t>• Violation → exact counterexample (user, roles, amount).</a:t>
            </a:r>
          </a:p>
          <a:p>
            <a:r>
              <a:t>• Works for any property expressible as ∀ user: P(user) → ¬Q(user).</a:t>
            </a:r>
          </a:p>
          <a:p/>
          <a:p>
            <a:r>
              <a:t>(No standalone demo command for SoD — compose with analyze</a:t>
            </a:r>
          </a:p>
          <a:p>
            <a:r>
              <a:t> using cover-line / avoid-line to target specific rule paths.)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 DETECTION — Find Undefined Decisions</a:t>
            </a:r>
          </a:p>
          <a:p/>
          <a:p>
            <a:r>
              <a:t>Talking points:</a:t>
            </a:r>
          </a:p>
          <a:p>
            <a:r>
              <a:t>• "Gap" = an input that matches NO rule → UNDEFINED result.</a:t>
            </a:r>
          </a:p>
          <a:p>
            <a:r>
              <a:t>• In some engines, undefined defaults to ALLOW — silent backdoor.</a:t>
            </a:r>
          </a:p>
          <a:p>
            <a:r>
              <a:t>• PI finds ALL gaps mathematically — manual testing can't do this.</a:t>
            </a:r>
          </a:p>
          <a:p>
            <a:r>
              <a:t>• Fix: add explicit deny-by-default rules.</a:t>
            </a:r>
          </a:p>
          <a:p/>
          <a:p>
            <a:r>
              <a:t>DEMO — Find an input where result is defined but also try:</a:t>
            </a:r>
          </a:p>
          <a:p>
            <a:r>
              <a:t>  regorus analyze \</a:t>
            </a:r>
          </a:p>
          <a:p>
            <a:r>
              <a:t>    -d examples/demos/container_admission.rego \</a:t>
            </a:r>
          </a:p>
          <a:p>
            <a:r>
              <a:t>    -e data.container_admission.allow \</a:t>
            </a:r>
          </a:p>
          <a:p>
            <a:r>
              <a:t>    -i examples/demos/container_admission_input.json \</a:t>
            </a:r>
          </a:p>
          <a:p>
            <a:r>
              <a:t>    -s examples/demos/container_admission_schema.json \</a:t>
            </a:r>
          </a:p>
          <a:p>
            <a:r>
              <a:t>    --max-loops 3</a:t>
            </a:r>
          </a:p>
          <a:p/>
          <a:p>
            <a:r>
              <a:t>  (Without -o flag: Z3 finds any input where the result IS defined.</a:t>
            </a:r>
          </a:p>
          <a:p>
            <a:r>
              <a:t>   Contrast with the error when no satisfying input exists.)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VERIFIED ENGINE — Verus Formal Verification of the RVM</a:t>
            </a:r>
          </a:p>
          <a:p/>
          <a:p>
            <a:r>
              <a:t>Talking points:</a:t>
            </a:r>
          </a:p>
          <a:p>
            <a:r>
              <a:t>• Z3 proves properties about policies. But who ensures the engine is correct?</a:t>
            </a:r>
          </a:p>
          <a:p>
            <a:r>
              <a:t>• Verus is a Rust verification framework — proves code correct at compile time.</a:t>
            </a:r>
          </a:p>
          <a:p>
            <a:r>
              <a:t>• We're using Verus to formally verify the RVM (Rego Virtual Machine):</a:t>
            </a:r>
          </a:p>
          <a:p>
            <a:r>
              <a:t>  - Register bounds: no out-of-bounds access, ever (proven, not just tested).</a:t>
            </a:r>
          </a:p>
          <a:p>
            <a:r>
              <a:t>  - Instruction limits: DoS protection is mathematically enforced.</a:t>
            </a:r>
          </a:p>
          <a:p>
            <a:r>
              <a:t>  - Value invariants: arrays, objects, sets maintain well-formedness.</a:t>
            </a:r>
          </a:p>
          <a:p>
            <a:r>
              <a:t>• This gives TWO layers of formal guarantees:</a:t>
            </a:r>
          </a:p>
          <a:p>
            <a:r>
              <a:t>  Layer 1: Z3 proves your policies are correct.</a:t>
            </a:r>
          </a:p>
          <a:p>
            <a:r>
              <a:t>  Layer 2: Verus proves the engine running them is correct.</a:t>
            </a:r>
          </a:p>
          <a:p>
            <a:r>
              <a:t>• The verification is staged — starting with core safety properties</a:t>
            </a:r>
          </a:p>
          <a:p>
            <a:r>
              <a:t>  and expanding to full functional correctness.</a:t>
            </a:r>
          </a:p>
          <a:p/>
          <a:p>
            <a:r>
              <a:t>Why this matters for PMs:</a:t>
            </a:r>
          </a:p>
          <a:p>
            <a:r>
              <a:t>  "Even if your policy is perfect, a bug in the engine could undermine everything.</a:t>
            </a:r>
          </a:p>
          <a:p>
            <a:r>
              <a:t>   Verus eliminates that risk — proven at compile time, not discovered in prod."</a:t>
            </a:r>
          </a:p>
          <a:p/>
          <a:p>
            <a:r>
              <a:t>Reference: verus.md in the repo for the detailed verification plan.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IMPACT — Why This Matters</a:t>
            </a:r>
          </a:p>
          <a:p/>
          <a:p>
            <a:r>
              <a:t>Talking points:</a:t>
            </a:r>
          </a:p>
          <a:p>
            <a:r>
              <a:t>• Coverage gaps → security incidents. PI eliminates them.</a:t>
            </a:r>
          </a:p>
          <a:p>
            <a:r>
              <a:t>• Safe policy changes → fewer rollbacks, faster deployments.</a:t>
            </a:r>
          </a:p>
          <a:p>
            <a:r>
              <a:t>• Faster incident response → lower MTTR.</a:t>
            </a:r>
          </a:p>
          <a:p>
            <a:r>
              <a:t>• Compliance evidence → auditors get proofs, not test reports.</a:t>
            </a:r>
          </a:p>
          <a:p>
            <a:r>
              <a:t>• QA effort → weeks of manual testing → one command.</a:t>
            </a:r>
          </a:p>
          <a:p>
            <a:r>
              <a:t>• Verified engine → the engine itself is proven crash-free.</a:t>
            </a:r>
          </a:p>
          <a:p/>
          <a:p>
            <a:r>
              <a:t>Transition: "Let's wrap up with what's next."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— Policy Intelligence</a:t>
            </a:r>
          </a:p>
          <a:p/>
          <a:p>
            <a:r>
              <a:t>Talking points:</a:t>
            </a:r>
          </a:p>
          <a:p>
            <a:r>
              <a:t>• Not just testing — mathematical proof.</a:t>
            </a:r>
          </a:p>
          <a:p>
            <a:r>
              <a:t>• Works today with Rego, Cedar, Azure Policy.</a:t>
            </a:r>
          </a:p>
          <a:p>
            <a:r>
              <a:t>• Verified engine — Verus proves the RVM correct.</a:t>
            </a:r>
          </a:p>
          <a:p>
            <a:r>
              <a:t>• Open source: microsoft/regorus on GitHub.</a:t>
            </a:r>
          </a:p>
          <a:p>
            <a:r>
              <a:t>• Contact: Policy Framework Team.</a:t>
            </a:r>
          </a:p>
          <a:p/>
          <a:p>
            <a:r>
              <a:t>Call to action:</a:t>
            </a:r>
          </a:p>
          <a:p>
            <a:r>
              <a:t>  "Try it on YOUR policies — one command, zero manual effort."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═══════════════════════════════════════════════════════════</a:t>
            </a:r>
          </a:p>
          <a:p>
            <a:r>
              <a:t>  DEMO CHEAT SHEET — COPY-PASTE COMMANDS</a:t>
            </a:r>
          </a:p>
          <a:p>
            <a:r>
              <a:t>  (all paths relative to the regorus repo root)</a:t>
            </a:r>
          </a:p>
          <a:p>
            <a:r>
              <a:t>═══════════════════════════════════════════════════════════</a:t>
            </a:r>
          </a:p>
          <a:p/>
          <a:p>
            <a:r>
              <a:t>PREREQUISITE — Build once:</a:t>
            </a:r>
          </a:p>
          <a:p>
            <a:r>
              <a:t>  BINDGEN_EXTRA_CLANG_ARGS="-I/opt/homebrew/include" \</a:t>
            </a:r>
          </a:p>
          <a:p>
            <a:r>
              <a:t>  LIBRARY_PATH="/opt/homebrew/lib" \</a:t>
            </a:r>
          </a:p>
          <a:p>
            <a:r>
              <a:t>  cargo build --example regorus --features z3-analysis,cedar,azure_policy</a:t>
            </a:r>
          </a:p>
          <a:p/>
          <a:p>
            <a:r>
              <a:t>  BIN=target/debug/examples/regorus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1) ANALYZE — Synthesize a violating input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analyze \</a:t>
            </a:r>
          </a:p>
          <a:p>
            <a:r>
              <a:t>    -d examples/demos/container_admission.rego \</a:t>
            </a:r>
          </a:p>
          <a:p>
            <a:r>
              <a:t>    -e data.container_admission.allow \</a:t>
            </a:r>
          </a:p>
          <a:p>
            <a:r>
              <a:t>    -o false \</a:t>
            </a:r>
          </a:p>
          <a:p>
            <a:r>
              <a:t>    -i examples/demos/container_admission_input.json \</a:t>
            </a:r>
          </a:p>
          <a:p>
            <a:r>
              <a:t>    -s examples/demos/container_admission_schema.json \</a:t>
            </a:r>
          </a:p>
          <a:p>
            <a:r>
              <a:t>    --max-loops 3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2) ANALYZE — Compliant input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analyze \</a:t>
            </a:r>
          </a:p>
          <a:p>
            <a:r>
              <a:t>    -d examples/demos/container_admission.rego \</a:t>
            </a:r>
          </a:p>
          <a:p>
            <a:r>
              <a:t>    -e data.container_admission.allow \</a:t>
            </a:r>
          </a:p>
          <a:p>
            <a:r>
              <a:t>    -o true \</a:t>
            </a:r>
          </a:p>
          <a:p>
            <a:r>
              <a:t>    -i examples/demos/container_admission_input.json \</a:t>
            </a:r>
          </a:p>
          <a:p>
            <a:r>
              <a:t>    -s examples/demos/container_admission_schema.json \</a:t>
            </a:r>
          </a:p>
          <a:p>
            <a:r>
              <a:t>    --max-loops 3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3) ANALYZE — Targeted line coverage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analyze \</a:t>
            </a:r>
          </a:p>
          <a:p>
            <a:r>
              <a:t>    -d examples/demos/container_admission.rego \</a:t>
            </a:r>
          </a:p>
          <a:p>
            <a:r>
              <a:t>    -e data.container_admission.allow \</a:t>
            </a:r>
          </a:p>
          <a:p>
            <a:r>
              <a:t>    -o false \</a:t>
            </a:r>
          </a:p>
          <a:p>
            <a:r>
              <a:t>    -l container_admission.rego:101 \</a:t>
            </a:r>
          </a:p>
          <a:p>
            <a:r>
              <a:t>    --avoid-line container_admission.rego:75 \</a:t>
            </a:r>
          </a:p>
          <a:p>
            <a:r>
              <a:t>    -i examples/demos/container_admission_input.json \</a:t>
            </a:r>
          </a:p>
          <a:p>
            <a:r>
              <a:t>    -s examples/demos/container_admission_schema.json \</a:t>
            </a:r>
          </a:p>
          <a:p>
            <a:r>
              <a:t>    --max-loops 3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4) GEN-TESTS — MC/DC with annotated output ★ BEST DEMO ★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gen-tests \</a:t>
            </a:r>
          </a:p>
          <a:p>
            <a:r>
              <a:t>    -d examples/demos/ags_group_governance.rego \</a:t>
            </a:r>
          </a:p>
          <a:p>
            <a:r>
              <a:t>    -e data.graph.elm_governance_group_membership.deny_result \</a:t>
            </a:r>
          </a:p>
          <a:p>
            <a:r>
              <a:t>    -i examples/demos/ags_group_governance_input.json \</a:t>
            </a:r>
          </a:p>
          <a:p>
            <a:r>
              <a:t>    -s examples/demos/ags_group_governance_schema.json \</a:t>
            </a:r>
          </a:p>
          <a:p>
            <a:r>
              <a:t>    --condition-coverage \</a:t>
            </a:r>
          </a:p>
          <a:p>
            <a:r>
              <a:t>    --format annotated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5) GEN-TESTS — JSON output (for piping/automation)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gen-tests \</a:t>
            </a:r>
          </a:p>
          <a:p>
            <a:r>
              <a:t>    -d examples/demos/ags_group_governance.rego \</a:t>
            </a:r>
          </a:p>
          <a:p>
            <a:r>
              <a:t>    -e data.graph.elm_governance_group_membership.deny_result \</a:t>
            </a:r>
          </a:p>
          <a:p>
            <a:r>
              <a:t>    -i examples/demos/ags_group_governance_input.json \</a:t>
            </a:r>
          </a:p>
          <a:p>
            <a:r>
              <a:t>    -s examples/demos/ags_group_governance_schema.json \</a:t>
            </a:r>
          </a:p>
          <a:p>
            <a:r>
              <a:t>    --condition-coverage --format json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6) DIFF — Network segmentation v1 vs v2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diff \</a:t>
            </a:r>
          </a:p>
          <a:p>
            <a:r>
              <a:t>    --policy1 examples/demos/network_segmentation.rego \</a:t>
            </a:r>
          </a:p>
          <a:p>
            <a:r>
              <a:t>    --policy2 examples/demos/network_segmentation_v2.rego \</a:t>
            </a:r>
          </a:p>
          <a:p>
            <a:r>
              <a:t>    -e data.network_segmentation.compliant \</a:t>
            </a:r>
          </a:p>
          <a:p>
            <a:r>
              <a:t>    -i examples/demos/network_segmentation_input.json \</a:t>
            </a:r>
          </a:p>
          <a:p>
            <a:r>
              <a:t>    -s examples/demos/network_segmentation_schema.json \</a:t>
            </a:r>
          </a:p>
          <a:p>
            <a:r>
              <a:t>    --max-loops 3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7) DIFF — Server allowed v1 vs v2 (telnet removal)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diff \</a:t>
            </a:r>
          </a:p>
          <a:p>
            <a:r>
              <a:t>    --policy1 examples/server/allowed_server.rego \</a:t>
            </a:r>
          </a:p>
          <a:p>
            <a:r>
              <a:t>    --policy2 examples/server/allowed_server_v2.rego \</a:t>
            </a:r>
          </a:p>
          <a:p>
            <a:r>
              <a:t>    -e data.example.allow \</a:t>
            </a:r>
          </a:p>
          <a:p>
            <a:r>
              <a:t>    -i examples/server/input.json \</a:t>
            </a:r>
          </a:p>
          <a:p>
            <a:r>
              <a:t>    -s examples/server/input_schema.json \</a:t>
            </a:r>
          </a:p>
          <a:p>
            <a:r>
              <a:t>    --max-loops 3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8) SUBSUMES — Azure Policy v2 ⊇ v1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subsumes \</a:t>
            </a:r>
          </a:p>
          <a:p>
            <a:r>
              <a:t>    --old examples/demos/azure_storage_https_v1_definition.json \</a:t>
            </a:r>
          </a:p>
          <a:p>
            <a:r>
              <a:t>    --new examples/demos/azure_storage_https_v2_definition.json \</a:t>
            </a:r>
          </a:p>
          <a:p>
            <a:r>
              <a:t>    -e main -o '"deny"' \</a:t>
            </a:r>
          </a:p>
          <a:p>
            <a:r>
              <a:t>    --azure-aliases examples/demos/azure_policy_aliases.json \</a:t>
            </a:r>
          </a:p>
          <a:p>
            <a:r>
              <a:t>    -i examples/demos/azure_storage_input.json \</a:t>
            </a:r>
          </a:p>
          <a:p>
            <a:r>
              <a:t>    -s examples/demos/azure_storage_schema.json \</a:t>
            </a:r>
          </a:p>
          <a:p>
            <a:r>
              <a:t>    --max-loops 3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9) SUBSUMES — Reverse (expect failure + counterexample)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subsumes \</a:t>
            </a:r>
          </a:p>
          <a:p>
            <a:r>
              <a:t>    --old examples/demos/azure_storage_https_v2_definition.json \</a:t>
            </a:r>
          </a:p>
          <a:p>
            <a:r>
              <a:t>    --new examples/demos/azure_storage_https_v1_definition.json \</a:t>
            </a:r>
          </a:p>
          <a:p>
            <a:r>
              <a:t>    -e main -o '"deny"' \</a:t>
            </a:r>
          </a:p>
          <a:p>
            <a:r>
              <a:t>    --azure-aliases examples/demos/azure_policy_aliases.json \</a:t>
            </a:r>
          </a:p>
          <a:p>
            <a:r>
              <a:t>    -i examples/demos/azure_storage_input.json \</a:t>
            </a:r>
          </a:p>
          <a:p>
            <a:r>
              <a:t>    -s examples/demos/azure_storage_schema.json \</a:t>
            </a:r>
          </a:p>
          <a:p>
            <a:r>
              <a:t>    --max-loops 3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10) AZURE POLICY — Find deny-triggering resource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analyze \</a:t>
            </a:r>
          </a:p>
          <a:p>
            <a:r>
              <a:t>    -d examples/demos/azure_storage_https_v1_definition.json \</a:t>
            </a:r>
          </a:p>
          <a:p>
            <a:r>
              <a:t>    -e main -o '"deny"' \</a:t>
            </a:r>
          </a:p>
          <a:p>
            <a:r>
              <a:t>    --azure-aliases examples/demos/azure_policy_aliases.json \</a:t>
            </a:r>
          </a:p>
          <a:p>
            <a:r>
              <a:t>    -i examples/demos/azure_storage_input.json \</a:t>
            </a:r>
          </a:p>
          <a:p>
            <a:r>
              <a:t>    -s examples/demos/azure_storage_schema.json \</a:t>
            </a:r>
          </a:p>
          <a:p>
            <a:r>
              <a:t>    --max-loops 3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11) CEDAR — IAM Zero Trust (permitted request)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analyze \</a:t>
            </a:r>
          </a:p>
          <a:p>
            <a:r>
              <a:t>    -d examples/cedar/examples/iam_zero_trust/policy.cedar \</a:t>
            </a:r>
          </a:p>
          <a:p>
            <a:r>
              <a:t>    -d examples/cedar/examples/iam_zero_trust/entities.json \</a:t>
            </a:r>
          </a:p>
          <a:p>
            <a:r>
              <a:t>    -e cedar.authorize -o 1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12) CEDAR — Healthcare HIPAA (permitted request)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$BIN analyze \</a:t>
            </a:r>
          </a:p>
          <a:p>
            <a:r>
              <a:t>    -d examples/cedar/examples/hipaa_healthcare/policy.cedar \</a:t>
            </a:r>
          </a:p>
          <a:p>
            <a:r>
              <a:t>    -d examples/cedar/examples/hipaa_healthcare/entities.json \</a:t>
            </a:r>
          </a:p>
          <a:p>
            <a:r>
              <a:t>    -e cedar.authorize -o 1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13) RUN ALL DEMOS (the full script):</a:t>
            </a:r>
          </a:p>
          <a:p>
            <a:r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t>  bash examples/demos/run_demos.sh</a:t>
            </a:r>
          </a:p>
          <a:p/>
          <a:p>
            <a:r>
              <a:t>═══════════════════════════════════════════════════════════</a:t>
            </a:r>
          </a:p>
          <a:p>
            <a:r>
              <a:t>TIP: Use Presenter View (Cmd+Shift+Enter on Mac) to see</a:t>
            </a:r>
          </a:p>
          <a:p>
            <a:r>
              <a:t>these notes alongside the slides. Keep a terminal in</a:t>
            </a:r>
          </a:p>
          <a:p>
            <a:r>
              <a:t>split-screen for live demos.</a:t>
            </a:r>
          </a:p>
          <a:p>
            <a:r>
              <a:t>═══════════════════════════════════════════════════════════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Policy Intelligence</a:t>
            </a:r>
          </a:p>
          <a:p>
            <a:pPr algn="ctr">
              <a:defRPr sz="2400">
                <a:solidFill>
                  <a:srgbClr val="BBDEFB"/>
                </a:solidFill>
              </a:defRPr>
            </a:pPr>
            <a:r>
              <a:t>Formal Analysis for Authorization &amp; Governance Policies</a:t>
            </a:r>
          </a:p>
          <a:p>
            <a:pPr algn="ctr">
              <a:spcBef>
                <a:spcPts val="3000"/>
              </a:spcBef>
              <a:defRPr sz="1600">
                <a:solidFill>
                  <a:srgbClr val="90CAF9"/>
                </a:solidFill>
              </a:defRPr>
            </a:pPr>
            <a:r>
              <a:t>Automated Testing  •  Change Validation  •  Compliance Proofs  •  Impact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A3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B5F6"/>
                </a:solidFill>
              </a:defRPr>
            </a:pPr>
            <a:r>
              <a:t>Regorus — Microsoft Policy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Theorem Proving?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From Spot-Checking to Mathematical Proof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3657600" cy="32918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❌  Traditional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108960" cy="6400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Pick some test inputs by hand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651760"/>
            <a:ext cx="0" cy="22860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880360"/>
            <a:ext cx="3108960" cy="6400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Run them against the policy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520440"/>
            <a:ext cx="0" cy="228599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3749039"/>
            <a:ext cx="3108960" cy="6400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Hope you didn't miss a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53935"/>
                </a:solidFill>
              </a:defRPr>
            </a:pPr>
            <a:r>
              <a:t>Covers a few points in the input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F51B5"/>
                </a:solidFill>
              </a:defRPr>
            </a:pPr>
            <a: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371600"/>
            <a:ext cx="6583680" cy="32918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1417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✅  Theorem Proving (Z3)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011680"/>
            <a:ext cx="2926080" cy="6400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Translate policy to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mathematical constraints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0" y="2331720"/>
            <a:ext cx="457200" cy="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61120" y="2011680"/>
            <a:ext cx="2743200" cy="6400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🧠 Z3 Solver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(Microsoft Research)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32720" y="2651760"/>
            <a:ext cx="0" cy="36576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77840" y="3017520"/>
            <a:ext cx="6126480" cy="13716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Z3 checks ALL possible inputs simultaneously:</a:t>
            </a:r>
          </a:p>
          <a:p>
            <a:pPr algn="l">
              <a:defRPr sz="1200" b="0">
                <a:solidFill>
                  <a:srgbClr val="1A1A2E"/>
                </a:solidFill>
              </a:defRPr>
            </a:pPr>
          </a:p>
          <a:p>
            <a:pPr algn="l">
              <a:defRPr sz="1200" b="0">
                <a:solidFill>
                  <a:srgbClr val="1A1A2E"/>
                </a:solidFill>
              </a:defRPr>
            </a:pPr>
            <a:r>
              <a:t>  • SAT  →  found a concrete input (here it is!)</a:t>
            </a:r>
          </a:p>
          <a:p>
            <a:pPr algn="l">
              <a:defRPr sz="1200" b="0">
                <a:solidFill>
                  <a:srgbClr val="1A1A2E"/>
                </a:solidFill>
              </a:defRPr>
            </a:pPr>
            <a:r>
              <a:t>  • UNSAT  →  no such input exists (mathematical proof)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48056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8E3C"/>
                </a:solidFill>
              </a:defRPr>
            </a:pPr>
            <a:r>
              <a:t>Covers the ENTIRE input space — nothing is missed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29200"/>
            <a:ext cx="11430000" cy="1554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074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About Z3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</a:defRPr>
            </a:pPr>
            <a:r>
              <a:t>Built by: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394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Microsoft Research — one of the most widely used theorem provers in the world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</a:defRPr>
            </a:pPr>
            <a:r>
              <a:t>Used in: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Windows driver verification, Azure security, AWS, compilers, cryptography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26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</a:defRPr>
            </a:pPr>
            <a:r>
              <a:t>Key idea: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6126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Instead of running tests, Z3 reasons about ALL inputs at once using math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Policy → SMT:  Under the Hood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How a Cedar Policy Becomes Mathematical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4572000" cy="3840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📋  Cedar Policy  (IAM Zero Trust)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4206240" cy="18288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B5E20"/>
                </a:solidFill>
              </a:defRPr>
            </a:pPr>
            <a:r>
              <a:t>// Allow admin login with MFA</a:t>
            </a:r>
          </a:p>
          <a:p>
            <a:pPr algn="l">
              <a:defRPr sz="1000" b="0">
                <a:solidFill>
                  <a:srgbClr val="1B5E20"/>
                </a:solidFill>
              </a:defRPr>
            </a:pPr>
            <a:r>
              <a:t>// from internal IPs</a:t>
            </a:r>
          </a:p>
          <a:p>
            <a:pPr algn="l">
              <a:defRPr sz="1000" b="0">
                <a:solidFill>
                  <a:srgbClr val="1B5E20"/>
                </a:solidFill>
              </a:defRPr>
            </a:pPr>
            <a:r>
              <a:t>permit(</a:t>
            </a:r>
          </a:p>
          <a:p>
            <a:pPr algn="l">
              <a:defRPr sz="1000" b="0">
                <a:solidFill>
                  <a:srgbClr val="1B5E20"/>
                </a:solidFill>
              </a:defRPr>
            </a:pPr>
            <a:r>
              <a:t>  principal in User::"admins",</a:t>
            </a:r>
          </a:p>
          <a:p>
            <a:pPr algn="l">
              <a:defRPr sz="1000" b="0">
                <a:solidFill>
                  <a:srgbClr val="1B5E20"/>
                </a:solidFill>
              </a:defRPr>
            </a:pPr>
            <a:r>
              <a:t>  action == Action::"login",</a:t>
            </a:r>
          </a:p>
          <a:p>
            <a:pPr algn="l">
              <a:defRPr sz="1000" b="0">
                <a:solidFill>
                  <a:srgbClr val="1B5E20"/>
                </a:solidFill>
              </a:defRPr>
            </a:pPr>
            <a:r>
              <a:t>  resource == App::"portal"</a:t>
            </a:r>
          </a:p>
          <a:p>
            <a:pPr algn="l">
              <a:defRPr sz="1000" b="0">
                <a:solidFill>
                  <a:srgbClr val="1B5E20"/>
                </a:solidFill>
              </a:defRPr>
            </a:pPr>
            <a:r>
              <a:t>)</a:t>
            </a:r>
          </a:p>
          <a:p>
            <a:pPr algn="l">
              <a:defRPr sz="1000" b="0">
                <a:solidFill>
                  <a:srgbClr val="1B5E20"/>
                </a:solidFill>
              </a:defRPr>
            </a:pPr>
            <a:r>
              <a:t>when {</a:t>
            </a:r>
          </a:p>
          <a:p>
            <a:pPr algn="l">
              <a:defRPr sz="1000" b="0">
                <a:solidFill>
                  <a:srgbClr val="1B5E20"/>
                </a:solidFill>
              </a:defRPr>
            </a:pPr>
            <a:r>
              <a:t>  context.mfa == true &amp;&amp;</a:t>
            </a:r>
          </a:p>
          <a:p>
            <a:pPr algn="l">
              <a:defRPr sz="1000" b="0">
                <a:solidFill>
                  <a:srgbClr val="1B5E20"/>
                </a:solidFill>
              </a:defRPr>
            </a:pPr>
            <a:r>
              <a:t>  context.ip like "10.*"</a:t>
            </a:r>
          </a:p>
          <a:p>
            <a:pPr algn="l">
              <a:defRPr sz="1000" b="0">
                <a:solidFill>
                  <a:srgbClr val="1B5E20"/>
                </a:solidFill>
              </a:defRPr>
            </a:pPr>
            <a:r>
              <a:t>};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86200"/>
            <a:ext cx="4206240" cy="10972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B71C1C"/>
                </a:solidFill>
              </a:defRPr>
            </a:pPr>
            <a:r>
              <a:t>// Block if account suspended</a:t>
            </a:r>
          </a:p>
          <a:p>
            <a:pPr algn="l">
              <a:defRPr sz="1000" b="0">
                <a:solidFill>
                  <a:srgbClr val="B71C1C"/>
                </a:solidFill>
              </a:defRPr>
            </a:pPr>
            <a:r>
              <a:t>forbid(</a:t>
            </a:r>
          </a:p>
          <a:p>
            <a:pPr algn="l">
              <a:defRPr sz="1000" b="0">
                <a:solidFill>
                  <a:srgbClr val="B71C1C"/>
                </a:solidFill>
              </a:defRPr>
            </a:pPr>
            <a:r>
              <a:t>  principal in User::"admins",</a:t>
            </a:r>
          </a:p>
          <a:p>
            <a:pPr algn="l">
              <a:defRPr sz="1000" b="0">
                <a:solidFill>
                  <a:srgbClr val="B71C1C"/>
                </a:solidFill>
              </a:defRPr>
            </a:pPr>
            <a:r>
              <a:t>  action == Action::"login",</a:t>
            </a:r>
          </a:p>
          <a:p>
            <a:pPr algn="l">
              <a:defRPr sz="1000" b="0">
                <a:solidFill>
                  <a:srgbClr val="B71C1C"/>
                </a:solidFill>
              </a:defRPr>
            </a:pPr>
            <a:r>
              <a:t>  resource == App::"portal"</a:t>
            </a:r>
          </a:p>
          <a:p>
            <a:pPr algn="l">
              <a:defRPr sz="1000" b="0">
                <a:solidFill>
                  <a:srgbClr val="B71C1C"/>
                </a:solidFill>
              </a:defRPr>
            </a:pPr>
            <a:r>
              <a:t>)</a:t>
            </a:r>
          </a:p>
          <a:p>
            <a:pPr algn="l">
              <a:defRPr sz="1000" b="0">
                <a:solidFill>
                  <a:srgbClr val="B71C1C"/>
                </a:solidFill>
              </a:defRPr>
            </a:pPr>
            <a:r>
              <a:t>when { context.suspended == true };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3017520"/>
            <a:ext cx="548640" cy="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63440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800"/>
                </a:solidFill>
              </a:defRPr>
            </a:pPr>
            <a:r>
              <a:t>compiles</a:t>
            </a:r>
            <a:br/>
            <a:r>
              <a:t>to SMT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280160"/>
            <a:ext cx="6492240" cy="38404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325880"/>
            <a:ext cx="6309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🧮  Z3 / SMT Constraints  (auto-generated)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920240"/>
            <a:ext cx="6126480" cy="118872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1A237E"/>
                </a:solidFill>
              </a:defRPr>
            </a:pPr>
            <a:r>
              <a:t>; Variables for each input field</a:t>
            </a:r>
          </a:p>
          <a:p>
            <a:pPr algn="l">
              <a:defRPr sz="900" b="0">
                <a:solidFill>
                  <a:srgbClr val="1A237E"/>
                </a:solidFill>
              </a:defRPr>
            </a:pPr>
            <a:r>
              <a:t>(declare-fun input.principal () String)</a:t>
            </a:r>
          </a:p>
          <a:p>
            <a:pPr algn="l">
              <a:defRPr sz="900" b="0">
                <a:solidFill>
                  <a:srgbClr val="1A237E"/>
                </a:solidFill>
              </a:defRPr>
            </a:pPr>
            <a:r>
              <a:t>(declare-fun input.action () String)</a:t>
            </a:r>
          </a:p>
          <a:p>
            <a:pPr algn="l">
              <a:defRPr sz="900" b="0">
                <a:solidFill>
                  <a:srgbClr val="1A237E"/>
                </a:solidFill>
              </a:defRPr>
            </a:pPr>
            <a:r>
              <a:t>(declare-fun input.resource () String)</a:t>
            </a:r>
          </a:p>
          <a:p>
            <a:pPr algn="l">
              <a:defRPr sz="900" b="0">
                <a:solidFill>
                  <a:srgbClr val="1A237E"/>
                </a:solidFill>
              </a:defRPr>
            </a:pPr>
            <a:r>
              <a:t>(declare-fun input.context.mfa () Bool)</a:t>
            </a:r>
          </a:p>
          <a:p>
            <a:pPr algn="l">
              <a:defRPr sz="900" b="0">
                <a:solidFill>
                  <a:srgbClr val="1A237E"/>
                </a:solidFill>
              </a:defRPr>
            </a:pPr>
            <a:r>
              <a:t>(declare-fun input.context.ip () String)</a:t>
            </a:r>
          </a:p>
          <a:p>
            <a:pPr algn="l">
              <a:defRPr sz="900" b="0">
                <a:solidFill>
                  <a:srgbClr val="1A237E"/>
                </a:solidFill>
              </a:defRPr>
            </a:pPr>
            <a:r>
              <a:t>(declare-fun input.context.suspended () Bool)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200400"/>
            <a:ext cx="6126480" cy="18288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E65100"/>
                </a:solidFill>
              </a:defRPr>
            </a:pPr>
            <a:r>
              <a:t>; Policy logic: permit ∧ ¬ forbid</a:t>
            </a:r>
          </a:p>
          <a:p>
            <a:pPr algn="l">
              <a:defRPr sz="900" b="0">
                <a:solidFill>
                  <a:srgbClr val="E65100"/>
                </a:solidFill>
              </a:defRPr>
            </a:pPr>
            <a:r>
              <a:t>(assert</a:t>
            </a:r>
          </a:p>
          <a:p>
            <a:pPr algn="l">
              <a:defRPr sz="900" b="0">
                <a:solidFill>
                  <a:srgbClr val="E65100"/>
                </a:solidFill>
              </a:defRPr>
            </a:pPr>
            <a:r>
              <a:t>  (and</a:t>
            </a:r>
          </a:p>
          <a:p>
            <a:pPr algn="l">
              <a:defRPr sz="900" b="0">
                <a:solidFill>
                  <a:srgbClr val="E65100"/>
                </a:solidFill>
              </a:defRPr>
            </a:pPr>
            <a:r>
              <a:t>    (= input.principal "User::admins")</a:t>
            </a:r>
          </a:p>
          <a:p>
            <a:pPr algn="l">
              <a:defRPr sz="900" b="0">
                <a:solidFill>
                  <a:srgbClr val="E65100"/>
                </a:solidFill>
              </a:defRPr>
            </a:pPr>
            <a:r>
              <a:t>    (= input.action "Action::login")</a:t>
            </a:r>
          </a:p>
          <a:p>
            <a:pPr algn="l">
              <a:defRPr sz="900" b="0">
                <a:solidFill>
                  <a:srgbClr val="E65100"/>
                </a:solidFill>
              </a:defRPr>
            </a:pPr>
            <a:r>
              <a:t>    (= input.resource "App::portal")</a:t>
            </a:r>
          </a:p>
          <a:p>
            <a:pPr algn="l">
              <a:defRPr sz="900" b="0">
                <a:solidFill>
                  <a:srgbClr val="E65100"/>
                </a:solidFill>
              </a:defRPr>
            </a:pPr>
            <a:r>
              <a:t>    (= input.context.mfa true)</a:t>
            </a:r>
          </a:p>
          <a:p>
            <a:pPr algn="l">
              <a:defRPr sz="900" b="0">
                <a:solidFill>
                  <a:srgbClr val="E65100"/>
                </a:solidFill>
              </a:defRPr>
            </a:pPr>
            <a:r>
              <a:t>    (str.in_re input.context.ip</a:t>
            </a:r>
          </a:p>
          <a:p>
            <a:pPr algn="l">
              <a:defRPr sz="900" b="0">
                <a:solidFill>
                  <a:srgbClr val="E65100"/>
                </a:solidFill>
              </a:defRPr>
            </a:pPr>
            <a:r>
              <a:t>      (re.++ (str.to_re "10.") re.all))</a:t>
            </a:r>
          </a:p>
          <a:p>
            <a:pPr algn="l">
              <a:defRPr sz="900" b="0">
                <a:solidFill>
                  <a:srgbClr val="E65100"/>
                </a:solidFill>
              </a:defRPr>
            </a:pPr>
            <a:r>
              <a:t>    (not (= input.context.suspended true))))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349240"/>
            <a:ext cx="116128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39495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⚡ Z3 Result:  SAT — found a concrete input that satisfies all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806440"/>
            <a:ext cx="11247120" cy="6858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{ "principal": "User::admins",  "action": "Action::login",  "resource": "App::portal",</a:t>
            </a:r>
          </a:p>
          <a:p>
            <a:pPr algn="l">
              <a:defRPr sz="1100" b="1">
                <a:solidFill>
                  <a:srgbClr val="1B5E20"/>
                </a:solidFill>
              </a:defRPr>
            </a:pPr>
            <a:r>
              <a:t>  "context": { "mfa": true,  "ip": "10.",  "suspended": false }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Policy Intelligence — From Policies to Proven Guarantees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38404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📋  What You Have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194560" cy="7315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Rego · Cedar ·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Azure Policies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194560" cy="7315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JSON Schema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(optional)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2194560" cy="7315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Reference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3200400" cy="38404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🧠  Policy Intelligence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03120"/>
            <a:ext cx="2286000" cy="9144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Compile &amp;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Analyze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3017520"/>
            <a:ext cx="0" cy="36576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3383280"/>
            <a:ext cx="2286000" cy="10972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Mathematical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Reasoning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(Z3 Solver)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3840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✅  What You 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920240"/>
            <a:ext cx="2926080" cy="6400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Auto-Generated Test Suites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743200"/>
            <a:ext cx="2926080" cy="6400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Change Impact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566160"/>
            <a:ext cx="2926080" cy="6400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Root Cause Explanations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389120"/>
            <a:ext cx="2926080" cy="6400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Compliance Proofs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3291840"/>
            <a:ext cx="91440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0" y="3291840"/>
            <a:ext cx="91440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6060"/>
                </a:solidFill>
              </a:defRPr>
            </a:pPr>
            <a:r>
              <a:t>Policies go in → Mathematical guarantees come 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Automated Test Generation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Zero Manual Effort, Full Coverage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114800" cy="41148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❌  Today: Manual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8229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Engineer writes</a:t>
            </a:r>
          </a:p>
          <a:p>
            <a:pPr algn="ctr">
              <a:defRPr sz="1400" b="0">
                <a:solidFill>
                  <a:srgbClr val="1A1A2E"/>
                </a:solidFill>
              </a:defRPr>
            </a:pPr>
            <a:r>
              <a:t>test inputs by hand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2834640"/>
            <a:ext cx="0" cy="27432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3108960"/>
            <a:ext cx="3383280" cy="8229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Misses edge cases</a:t>
            </a:r>
          </a:p>
          <a:p>
            <a:pPr algn="ctr">
              <a:defRPr sz="1400" b="0">
                <a:solidFill>
                  <a:srgbClr val="1A1A2E"/>
                </a:solidFill>
              </a:defRPr>
            </a:pPr>
            <a:r>
              <a:t>&amp; corner scenarios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3931920"/>
            <a:ext cx="0" cy="27432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4206240"/>
            <a:ext cx="3383280" cy="8229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Incomplete coverage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= security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F51B5"/>
                </a:solidFill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371600"/>
            <a:ext cx="5029200" cy="4114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✅  With Policy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011680"/>
            <a:ext cx="4297680" cy="82296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Engine reads policy &amp; schema</a:t>
            </a:r>
          </a:p>
          <a:p>
            <a:pPr algn="ctr">
              <a:defRPr sz="1400" b="0">
                <a:solidFill>
                  <a:srgbClr val="1A1A2E"/>
                </a:solidFill>
              </a:defRPr>
            </a:pPr>
            <a:r>
              <a:t>automatically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89720" y="2834640"/>
            <a:ext cx="0" cy="27432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040880" y="3108960"/>
            <a:ext cx="4297680" cy="82296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Mathematically finds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ALL decision paths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89720" y="3931920"/>
            <a:ext cx="0" cy="27432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40880" y="4206240"/>
            <a:ext cx="4297680" cy="82296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Generates minimal test suite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with 100%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Safe Policy Migration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Prove Equivalence Before You Deploy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286000" cy="109728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1A2E"/>
                </a:solidFill>
              </a:defRPr>
            </a:pPr>
            <a:r>
              <a:t>Policy v1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t>(Current)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2286000" cy="109728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1A2E"/>
                </a:solidFill>
              </a:defRPr>
            </a:pPr>
            <a:r>
              <a:t>Policy v2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t>(Proposed)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0" y="2560320"/>
            <a:ext cx="914400" cy="64008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017520" y="3566160"/>
            <a:ext cx="914400" cy="82296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31920" y="2560320"/>
            <a:ext cx="2560320" cy="164592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🔍 Policy Diff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Analysis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Compares ALL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possible inputs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492240" y="2286000"/>
            <a:ext cx="1097280" cy="64008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8E3C"/>
                </a:solidFill>
              </a:defRPr>
            </a:pPr>
            <a:r>
              <a:t>Identical</a:t>
            </a:r>
            <a:br/>
            <a:r>
              <a:t>behavior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3657600"/>
            <a:ext cx="1097280" cy="731520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9A825"/>
                </a:solidFill>
              </a:defRPr>
            </a:pPr>
            <a:r>
              <a:t>Behavior</a:t>
            </a:r>
            <a:br/>
            <a:r>
              <a:t>differs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645920"/>
            <a:ext cx="3840480" cy="11887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✅ Safe to Deploy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Mathematically Equivalent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for ALL inputs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840480"/>
            <a:ext cx="3840480" cy="137160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⚠️ Found Difference!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Here's the exact input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that causes divergent behavior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828800" y="5212080"/>
            <a:ext cx="6583680" cy="0"/>
          </a:xfrm>
          <a:prstGeom prst="line">
            <a:avLst/>
          </a:prstGeom>
          <a:ln w="2540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828800" y="4937760"/>
            <a:ext cx="0" cy="274320"/>
          </a:xfrm>
          <a:prstGeom prst="line">
            <a:avLst/>
          </a:prstGeom>
          <a:ln w="2540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E24AA"/>
                </a:solidFill>
              </a:defRPr>
            </a:pPr>
            <a:r>
              <a:t>Fix &amp; Re-verify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Denied?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Pinpoint the Exact Failing Condition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560320" cy="137160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🚫 Request Denied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"Why was I blocked?"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17520" y="2971800"/>
            <a:ext cx="91440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931920" y="2011680"/>
            <a:ext cx="2286000" cy="192024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🧠 Root Cause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Analysis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(MAX-SAT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Solver)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217920" y="2011680"/>
            <a:ext cx="640080" cy="96012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0" y="1645920"/>
            <a:ext cx="2468880" cy="82296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Condition 1 ✅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User is authenticated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217920" y="2926079"/>
            <a:ext cx="640080" cy="45721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0" y="2560320"/>
            <a:ext cx="2468880" cy="82296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Condition 2 ✅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Valid subscription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0" y="2971800"/>
            <a:ext cx="640080" cy="86868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0" y="3474720"/>
            <a:ext cx="2468880" cy="822960"/>
          </a:xfrm>
          <a:prstGeom prst="roundRect">
            <a:avLst/>
          </a:prstGeom>
          <a:solidFill>
            <a:srgbClr val="FFCDD2"/>
          </a:solidFill>
          <a:ln w="381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Condition 3 ❌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Group membership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not enforced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2971800"/>
            <a:ext cx="640080" cy="178308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0" y="4389120"/>
            <a:ext cx="2468880" cy="82296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Condition 4 ✅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Region allowed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0" y="3886200"/>
            <a:ext cx="457200" cy="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84080" y="3200400"/>
            <a:ext cx="2011680" cy="13716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💡 Actionable Insight</a:t>
            </a:r>
          </a:p>
          <a:p>
            <a:pPr algn="ctr">
              <a:defRPr sz="1100" b="0">
                <a:solidFill>
                  <a:srgbClr val="1A1A2E"/>
                </a:solidFill>
              </a:defRPr>
            </a:pPr>
          </a:p>
          <a:p>
            <a:pPr algn="ctr">
              <a:defRPr sz="1100" b="0">
                <a:solidFill>
                  <a:srgbClr val="1A1A2E"/>
                </a:solidFill>
              </a:defRPr>
            </a:pPr>
            <a:r>
              <a:t>"managedState"</a:t>
            </a:r>
          </a:p>
          <a:p>
            <a:pPr algn="ctr">
              <a:defRPr sz="1100" b="0">
                <a:solidFill>
                  <a:srgbClr val="1A1A2E"/>
                </a:solidFill>
              </a:defRPr>
            </a:pPr>
            <a:r>
              <a:t>must be "enforced"</a:t>
            </a:r>
          </a:p>
          <a:p>
            <a:pPr algn="ctr">
              <a:defRPr sz="1100" b="0">
                <a:solidFill>
                  <a:srgbClr val="1A1A2E"/>
                </a:solidFill>
              </a:defRPr>
            </a:pPr>
            <a:r>
              <a:t>— contact</a:t>
            </a:r>
          </a:p>
          <a:p>
            <a:pPr algn="ctr">
              <a:defRPr sz="1100" b="0">
                <a:solidFill>
                  <a:srgbClr val="1A1A2E"/>
                </a:solidFill>
              </a:defRPr>
            </a:pPr>
            <a:r>
              <a:t>group owner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Compliance Proofs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Mathematical Guarantees, Not Just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411480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❓  Compliance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651760" cy="91440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Can any request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bypass this rule?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2651760" cy="91440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Is the new policy at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least as restrictive?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2651760" cy="91440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Are there unreachable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(dead) rules?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3429000"/>
            <a:ext cx="91440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2286000"/>
            <a:ext cx="2286000" cy="22860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🧠 Policy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Intelligence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Engine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(Z3 Theorem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Prover)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858000" y="2103120"/>
            <a:ext cx="914400" cy="64008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3429000"/>
            <a:ext cx="914400" cy="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4114800"/>
            <a:ext cx="914400" cy="457200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554480"/>
            <a:ext cx="3931920" cy="10972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✅ Mathematically Impossible to Bypass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No input exists that circumvents this rule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(UNSAT proof)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834640"/>
            <a:ext cx="3931920" cy="10972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✅ New Policy is Strictly Tighter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Every input allowed by old is also allowed by new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(Subsumption proof)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114800"/>
            <a:ext cx="3931920" cy="109728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🧹 3 Rules Are Unreachable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No input can ever trigger them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— safe to remove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MC/DC Condition Coverage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Aviation-Grade Testing Standard (DO-178C) — Applied to Policies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017520" cy="256032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2834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Policy Rule: applicable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164592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applicable if {</a:t>
            </a:r>
          </a:p>
          <a:p>
            <a:pPr algn="l">
              <a:defRPr sz="1200" b="0">
                <a:solidFill>
                  <a:srgbClr val="1A1A2E"/>
                </a:solidFill>
              </a:defRPr>
            </a:pPr>
            <a:r>
              <a:t>  appId NOT in allowlist</a:t>
            </a:r>
          </a:p>
          <a:p>
            <a:pPr algn="l">
              <a:defRPr sz="1200" b="0">
                <a:solidFill>
                  <a:srgbClr val="1A1A2E"/>
                </a:solidFill>
              </a:defRPr>
            </a:pPr>
            <a:r>
              <a:t>  AND isFetchSuccess</a:t>
            </a:r>
          </a:p>
          <a:p>
            <a:pPr algn="l">
              <a:defRPr sz="1200" b="0">
                <a:solidFill>
                  <a:srgbClr val="1A1A2E"/>
                </a:solidFill>
              </a:defRPr>
            </a:pPr>
            <a:r>
              <a:t>  AND managedState</a:t>
            </a:r>
          </a:p>
          <a:p>
            <a:pPr algn="l">
              <a:defRPr sz="1200" b="0">
                <a:solidFill>
                  <a:srgbClr val="1A1A2E"/>
                </a:solidFill>
              </a:defRPr>
            </a:pPr>
            <a:r>
              <a:t>      == "enforced"</a:t>
            </a:r>
          </a:p>
          <a:p>
            <a:pPr algn="l">
              <a:defRPr sz="1200" b="0">
                <a:solidFill>
                  <a:srgbClr val="1A1A2E"/>
                </a:solidFill>
              </a:defRPr>
            </a:pPr>
            <a:r>
              <a:t>}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2743200"/>
            <a:ext cx="640080" cy="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31920" y="2011680"/>
            <a:ext cx="1828800" cy="146304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🧠 MC/DC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Analysis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Flip each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condition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independently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2743200"/>
            <a:ext cx="457200" cy="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7920" y="1188720"/>
            <a:ext cx="5669280" cy="475488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234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Generated Test Pairs — Each Condition Independently Determines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F51B5"/>
                </a:solidFill>
              </a:defRPr>
            </a:pPr>
            <a:r>
              <a:t>Condition A: appId in allowlist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2560320" cy="7315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✅ TRUE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appId = "ff177ae3..."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(allowed app)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194560"/>
            <a:ext cx="2560320" cy="73152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❌ FALSE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appId = "aaaaaaaa..."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(unknown app)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F51B5"/>
                </a:solidFill>
              </a:defRPr>
            </a:pPr>
            <a:r>
              <a:t>Condition B: isFetchSuccess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83280"/>
            <a:ext cx="2560320" cy="7315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✅ TRUE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fetchResponse.code = 200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383280"/>
            <a:ext cx="2560320" cy="73152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❌ FALSE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fetchResponse.code = 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F51B5"/>
                </a:solidFill>
              </a:defRPr>
            </a:pPr>
            <a:r>
              <a:t>Condition C: managedState == "enforced"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72000"/>
            <a:ext cx="2560320" cy="7315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✅ TRUE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managedState = "enforced"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572000"/>
            <a:ext cx="2560320" cy="73152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❌ FALSE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managedState = "reportOnly"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303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</a:defRPr>
            </a:pPr>
            <a:r>
              <a:t>MC/DC = Modified Condition/Decision Coverage — the same standard required for flight-critical avionics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Real Policy — Azure Group Governance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5 Decision Paths, All Automatically Explored by Z3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0"/>
            <a:ext cx="2011680" cy="109728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Incoming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Request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(appId +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fetchResponse)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3291840"/>
            <a:ext cx="64008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2926080" y="2560320"/>
            <a:ext cx="1828800" cy="1371600"/>
          </a:xfrm>
          <a:prstGeom prst="diamond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appId in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allowlist?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840480" y="1554480"/>
            <a:ext cx="0" cy="100584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040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8E3C"/>
                </a:solidFill>
              </a:defRPr>
            </a:pPr>
            <a:r>
              <a:t>Yes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097280"/>
            <a:ext cx="1828800" cy="54864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✅ ALLOW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(Allowed App)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80" y="3291840"/>
            <a:ext cx="73152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46320" y="2926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53935"/>
                </a:solidFill>
              </a:defRPr>
            </a:pPr>
            <a:r>
              <a:t>No</a:t>
            </a:r>
          </a:p>
        </p:txBody>
      </p:sp>
      <p:sp>
        <p:nvSpPr>
          <p:cNvPr id="11" name="Diamond 10"/>
          <p:cNvSpPr/>
          <p:nvPr/>
        </p:nvSpPr>
        <p:spPr>
          <a:xfrm>
            <a:off x="5486400" y="2560320"/>
            <a:ext cx="1828800" cy="1371600"/>
          </a:xfrm>
          <a:prstGeom prst="diamond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HTTP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status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code?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0" y="3291840"/>
            <a:ext cx="73152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0" y="2926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</a:defRPr>
            </a:pPr>
            <a:r>
              <a:t>200</a:t>
            </a:r>
          </a:p>
        </p:txBody>
      </p:sp>
      <p:sp>
        <p:nvSpPr>
          <p:cNvPr id="14" name="Diamond 13"/>
          <p:cNvSpPr/>
          <p:nvPr/>
        </p:nvSpPr>
        <p:spPr>
          <a:xfrm>
            <a:off x="8046720" y="2560320"/>
            <a:ext cx="1828800" cy="1371600"/>
          </a:xfrm>
          <a:prstGeom prst="diamond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managed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State?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961120" y="1554480"/>
            <a:ext cx="0" cy="100584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53935"/>
                </a:solidFill>
              </a:defRPr>
            </a:pPr>
            <a:r>
              <a:t>enforced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097280"/>
            <a:ext cx="1645920" cy="54864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🚫 DENY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(Enforced)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875520" y="2743200"/>
            <a:ext cx="640080" cy="548640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9A825"/>
                </a:solidFill>
              </a:defRPr>
            </a:pPr>
            <a:r>
              <a:t>reportOnly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1097280"/>
            <a:ext cx="1645920" cy="54864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📋 AUDIT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(Report Only)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3931920"/>
            <a:ext cx="0" cy="73152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7784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8E3C"/>
                </a:solidFill>
              </a:defRPr>
            </a:pPr>
            <a:r>
              <a:t>403/404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4663440"/>
            <a:ext cx="2286000" cy="6400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✅ ALLOW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(Expected Error)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400800" y="1554480"/>
            <a:ext cx="0" cy="100584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7512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53935"/>
                </a:solidFill>
              </a:defRPr>
            </a:pPr>
            <a:r>
              <a:t>null/other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1097280"/>
            <a:ext cx="1828800" cy="54864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🚫 DENY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(Fail-Closed)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6060"/>
                </a:solidFill>
              </a:defRPr>
            </a:pPr>
            <a:r>
              <a:t>Z3 automatically finds an input for each of the 5 paths — no manual test authoring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Real Results — AGS Group Governance Policy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23 Tests, 100% Coverage, Zero Manual Effort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200400" cy="274320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834640" cy="82296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group_governance.rego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139 lines · 5 decision paths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2834640" cy="82296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JSON Schema</a:t>
            </a:r>
          </a:p>
          <a:p>
            <a:pPr algn="ctr">
              <a:defRPr sz="1100" b="0">
                <a:solidFill>
                  <a:srgbClr val="1A1A2E"/>
                </a:solidFill>
              </a:defRPr>
            </a:pPr>
            <a:r>
              <a:t>type constraints · required fields</a:t>
            </a:r>
          </a:p>
          <a:p>
            <a:pPr algn="ctr">
              <a:defRPr sz="1100" b="0">
                <a:solidFill>
                  <a:srgbClr val="1A1A2E"/>
                </a:solidFill>
              </a:defRPr>
            </a:pPr>
            <a:r>
              <a:t>enum values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2834640"/>
            <a:ext cx="640080" cy="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0" y="2103120"/>
            <a:ext cx="2286000" cy="13716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⚡ gen-tests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--condition-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coverage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2834640"/>
            <a:ext cx="457200" cy="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0" y="1188720"/>
            <a:ext cx="5029200" cy="48463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234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Automatic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828800"/>
            <a:ext cx="2286000" cy="822960"/>
          </a:xfrm>
          <a:prstGeom prst="roundRect">
            <a:avLst/>
          </a:prstGeom>
          <a:solidFill>
            <a:srgbClr val="A5D6A7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34 / 34 lines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100% Line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828800"/>
            <a:ext cx="2103120" cy="822960"/>
          </a:xfrm>
          <a:prstGeom prst="roundRect">
            <a:avLst/>
          </a:prstGeom>
          <a:solidFill>
            <a:srgbClr val="A5D6A7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46 / 46 conditions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100% MC/DC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34640"/>
            <a:ext cx="4572000" cy="54864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1A2E"/>
                </a:solidFill>
              </a:defRPr>
            </a:pPr>
            <a:r>
              <a:t>23 test cases auto-generated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Sample Generated Inputs: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931920"/>
            <a:ext cx="4572000" cy="45720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Test 2: DENY — code: 200, managedState: "enforced", appid: "aaaaaaaa-..."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80560"/>
            <a:ext cx="4572000" cy="4572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Test 3: ALLOW — code: 200, managedState: "reportOnly", appid: "aaaaaaaa-..."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029200"/>
            <a:ext cx="4572000" cy="4572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Test 5: ALLOW — code: 403, appid: "aaaaaaaa-..."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What's Next</a:t>
            </a:r>
          </a:p>
          <a:p>
            <a:pPr algn="ctr">
              <a:defRPr sz="2000">
                <a:solidFill>
                  <a:srgbClr val="BBDEFB"/>
                </a:solidFill>
              </a:defRPr>
            </a:pPr>
            <a:r>
              <a:t>High-Impact Scenarios Enabled by Policy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</a:defRPr>
            </a:pPr>
            <a:r>
              <a:t>→  Copilot + PI verification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206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</a:defRPr>
            </a:pPr>
            <a:r>
              <a:t>→  PR review bot with formal 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</a:defRPr>
            </a:pPr>
            <a:r>
              <a:t>→  Shadow mode prediction — zero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</a:defRPr>
            </a:pPr>
            <a:r>
              <a:t>→  Regulatory impact scanning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</a:defRPr>
            </a:pPr>
            <a:r>
              <a:t>→  Separation of duty proofs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</a:defRPr>
            </a:pPr>
            <a:r>
              <a:t>→  Gap detection for undefined decisions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Copilot + Policy Intelligence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AI Writes the Policy — Math Proves It's Correct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645920"/>
            <a:ext cx="2286000" cy="118872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👤 Developer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"Only allow reads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for interns"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51760" y="2240280"/>
            <a:ext cx="73152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83280" y="1645920"/>
            <a:ext cx="2286000" cy="118872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🤖 Copilot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Generates Rego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policy from intent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2240280"/>
            <a:ext cx="73152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0" y="1463040"/>
            <a:ext cx="2560320" cy="15544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🧠 Policy Intelligence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Verifies against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formal properties: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• No privilege escalation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• No bypasses possible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61120" y="1920240"/>
            <a:ext cx="914400" cy="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875520" y="1463040"/>
            <a:ext cx="2011680" cy="9144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✅ VERIFIED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Safe to deploy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3017520"/>
            <a:ext cx="0" cy="82296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3840480"/>
            <a:ext cx="2560320" cy="118872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❌ ISSUE FOUND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"Intern with role=manager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can still write"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572000" y="4434840"/>
            <a:ext cx="1828800" cy="0"/>
          </a:xfrm>
          <a:prstGeom prst="line">
            <a:avLst/>
          </a:prstGeom>
          <a:ln w="2540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572000" y="2834640"/>
            <a:ext cx="0" cy="1600200"/>
          </a:xfrm>
          <a:prstGeom prst="line">
            <a:avLst/>
          </a:prstGeom>
          <a:ln w="2540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5488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24AA"/>
                </a:solidFill>
              </a:defRPr>
            </a:pPr>
            <a:r>
              <a:t>Auto-fix prompt</a:t>
            </a:r>
            <a:br/>
            <a:r>
              <a:t>with counterexample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303520"/>
            <a:ext cx="11430000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49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Every AI-generated policy gets a mathematical proof before it reaches production. Copilot iterates automatically using counterexamples until the proof passes.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 Review Bot — Policy Diff in CI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Every Policy Change Gets a Formal Impact Report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645920"/>
            <a:ext cx="2286000" cy="128016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📝 Pull Request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Modifies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policy.rego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51760" y="2286000"/>
            <a:ext cx="73152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83280" y="1645920"/>
            <a:ext cx="2103120" cy="128016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⚙️ CI Pipeline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runs regorus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diff v1 vs v2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0" y="2286000"/>
            <a:ext cx="731520" cy="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0" y="1371600"/>
            <a:ext cx="5669280" cy="32004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59" y="1417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📊  PR Comment — Formal Diff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03520" cy="64008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🔬 Behavioral Changes Found:  2 inputs now produce different outcomes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5303520" cy="6400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Input #1: role=contractor, resource=internal-docs → was ALLOW, now DENY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57600"/>
            <a:ext cx="5303520" cy="64008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Input #2: role=vendor, action=read → was DENY, now ALLOW  ⚠️ wider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937760"/>
            <a:ext cx="11430000" cy="1645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What Reviewers 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8E3C"/>
                </a:solidFill>
              </a:defRPr>
            </a:pPr>
            <a:r>
              <a:t>No behavioral change → ✅ auto-approve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</a:defRPr>
            </a:pPr>
            <a:r>
              <a:t>Changes found → reviewer sees exact inputs with before/after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72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</a:defRPr>
            </a:pPr>
            <a:r>
              <a:t>Wider access detected → ⚠️ mandatory security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Shadow Mode — Without the Shadow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Predict Policy Impact Mathematically, Not by Routing Traffic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3657600" cy="32004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❌  Shadow Mode (Today)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108960" cy="6400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Deploy policy to shadow fleet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651760"/>
            <a:ext cx="0" cy="18288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834640"/>
            <a:ext cx="3108960" cy="6400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Wait days/weeks for traffic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474720"/>
            <a:ext cx="0" cy="18288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3657600"/>
            <a:ext cx="3108960" cy="6400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Hope you saw enough variety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F51B5"/>
                </a:solidFill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371600"/>
            <a:ext cx="6583680" cy="3200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59" y="1417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✅  Policy Intelligence (Instant)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011680"/>
            <a:ext cx="2743200" cy="64008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Old Policy + New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2331720"/>
            <a:ext cx="457200" cy="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78240" y="2011680"/>
            <a:ext cx="2926080" cy="6400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🧠 Diff Engine (Z3)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41280" y="2651760"/>
            <a:ext cx="0" cy="36576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77840" y="3017520"/>
            <a:ext cx="6126480" cy="11887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Instant Report:</a:t>
            </a:r>
          </a:p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99.7% of input space: identical behavior</a:t>
            </a:r>
          </a:p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0.3% affected: contractors accessing internal-docs</a:t>
            </a:r>
          </a:p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Zero traffic needed — mathematically exhaustive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029200"/>
            <a:ext cx="11430000" cy="137160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</a:defRPr>
            </a:pPr>
            <a:r>
              <a:t>Shadow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Days to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Only traffic you see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8E3C"/>
                </a:solidFill>
              </a:defRPr>
            </a:pPr>
            <a:r>
              <a:t>Policy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Seconds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ALL possible inputs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Regulatory Impact Analysis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Scan All Policies for Compliance Gaps — Automatically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828800"/>
            <a:ext cx="2286000" cy="137160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📜 Regulation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"MFA required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for all PII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access"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51760" y="2514600"/>
            <a:ext cx="82296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74720" y="1645920"/>
            <a:ext cx="2286000" cy="164592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🧠 Formalize &amp;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Scan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∀ request: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accesses_pii(r) →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has_mfa(r)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720" y="2514600"/>
            <a:ext cx="822960" cy="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0" y="1371600"/>
            <a:ext cx="5303520" cy="24688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🏢  Policy Fleet (42 services)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2286000" cy="6400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✅ 39 services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Compliant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103120"/>
            <a:ext cx="2286000" cy="6400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❌ 3 services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Gap Found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926080"/>
            <a:ext cx="4754880" cy="6400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Each result backed by a mathematical proof — not sampling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69880" y="2743200"/>
            <a:ext cx="0" cy="137160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" y="4114800"/>
            <a:ext cx="11430000" cy="2286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Findings Detail — Counterexamples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2560320" cy="41148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Service: billing-api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4663440"/>
            <a:ext cx="4572000" cy="4114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PII endpoint /invoices has no MFA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4663440"/>
            <a:ext cx="3657600" cy="4114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→ Add MFA 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79"/>
            <a:ext cx="2560320" cy="41148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Service: hr-portal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5212079"/>
            <a:ext cx="4572000" cy="4114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Admin override bypasses PII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5212079"/>
            <a:ext cx="3657600" cy="4114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→ Remove override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60720"/>
            <a:ext cx="2560320" cy="41148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Service: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5760720"/>
            <a:ext cx="4572000" cy="4114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Logging endpoint exposes email without MFA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5760720"/>
            <a:ext cx="3657600" cy="4114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→ Restrict field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Separation of Duty — Formal Proof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Prove No Role Can Both Submit AND Approve (SOX / SOC-2)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3657600" cy="182880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🎯  Security Property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108960" cy="91440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∀ user, request:</a:t>
            </a:r>
          </a:p>
          <a:p>
            <a:pPr algn="l">
              <a:defRPr sz="1300" b="0">
                <a:solidFill>
                  <a:srgbClr val="1A1A2E"/>
                </a:solidFill>
              </a:defRPr>
            </a:pPr>
            <a:r>
              <a:t>can_submit(user, request)</a:t>
            </a:r>
          </a:p>
          <a:p>
            <a:pPr algn="l">
              <a:defRPr sz="1300" b="0">
                <a:solidFill>
                  <a:srgbClr val="1A1A2E"/>
                </a:solidFill>
              </a:defRPr>
            </a:pPr>
            <a:r>
              <a:t>  → ¬ can_approve(user, request)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23360" y="2286000"/>
            <a:ext cx="82296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46320" y="1645920"/>
            <a:ext cx="2286000" cy="13716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🧠 Z3 Solver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Searches ALL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role combinations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exhaustively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7132320" y="1645920"/>
            <a:ext cx="914400" cy="36576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46720" y="1371600"/>
            <a:ext cx="3840480" cy="9144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✅ PROVEN: No Violation Possible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Mathematical certificate for auditors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0" y="2560320"/>
            <a:ext cx="914400" cy="640080"/>
          </a:xfrm>
          <a:prstGeom prst="line">
            <a:avLst/>
          </a:prstGeom>
          <a:ln w="25400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6720" y="2743200"/>
            <a:ext cx="3840480" cy="118872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❌ VIOLATION FOUND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User: finance_lead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Role: [submitter, approver]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Amount: $50,000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389120"/>
            <a:ext cx="11430000" cy="20116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Compliance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548640" cy="36576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8E3C"/>
                </a:solidFill>
              </a:defRPr>
            </a:pPr>
            <a:r>
              <a:t>SOX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7548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Prove financial controls enforce separation of duty across all roles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548640" cy="36576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8E3C"/>
                </a:solidFill>
              </a:defRPr>
            </a:pPr>
            <a:r>
              <a:t>SOC-2 Type 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25780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Continuous proof that access controls meet trust service criteria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60720"/>
            <a:ext cx="548640" cy="36576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8E3C"/>
                </a:solidFill>
              </a:defRPr>
            </a:pPr>
            <a:r>
              <a:t>HIPAA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76072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Verify no single user can access AND authorize patient data release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Gap Detection — Find Undefined Decisions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Discover Inputs Where Policy Returns UNDEFINED (Falls Through All Rules)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828800"/>
            <a:ext cx="2286000" cy="11887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📋 Your Policy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3 explicit rules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(allow, deny, audit)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51760" y="2423160"/>
            <a:ext cx="82296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74720" y="1645920"/>
            <a:ext cx="2286000" cy="164592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🔍 Gap Finder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"Is there any input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that matches NO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rule at all?"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720" y="2423160"/>
            <a:ext cx="822960" cy="0"/>
          </a:xfrm>
          <a:prstGeom prst="line">
            <a:avLst/>
          </a:prstGeom>
          <a:ln w="25400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0" y="1371600"/>
            <a:ext cx="5303520" cy="274320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🕳️  Gaps Found: 2 Unhandled Input Regions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4846320" cy="8229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Gap 1:  role = "contractor" AND resource = "internal-wiki"</a:t>
            </a:r>
          </a:p>
          <a:p>
            <a:pPr algn="ctr">
              <a:defRPr sz="1100" b="0">
                <a:solidFill>
                  <a:srgbClr val="1A1A2E"/>
                </a:solidFill>
              </a:defRPr>
            </a:pPr>
            <a:r>
              <a:t>→ No rule matches — default behavior is UNDEFINED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108960"/>
            <a:ext cx="4846320" cy="8229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Gap 2:  action = "delete" AND resource_type = "audit-log"</a:t>
            </a:r>
          </a:p>
          <a:p>
            <a:pPr algn="ctr">
              <a:defRPr sz="1100" b="0">
                <a:solidFill>
                  <a:srgbClr val="1A1A2E"/>
                </a:solidFill>
              </a:defRPr>
            </a:pPr>
            <a:r>
              <a:t>→ Falls through all rules — should this be explicitly denied?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572000"/>
            <a:ext cx="11430000" cy="19202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Why Gaps Are Dangerous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548640" cy="3657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</a:defRPr>
            </a:pPr>
            <a:r>
              <a:t>Security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9377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Undefined decisions may default to ALLOW in some engines — silent backdoors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548640" cy="3657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</a:defRPr>
            </a:pPr>
            <a:r>
              <a:t>Hard to Find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4406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Manual testing rarely covers combinations that match no rule — invisible by definition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43600"/>
            <a:ext cx="548640" cy="3657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A1A2E"/>
                </a:solidFill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</a:defRPr>
            </a:pPr>
            <a:r>
              <a:t>The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94360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PI finds ALL gaps mathematically — add explicit deny-by-default or new rules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Verified Engine — Proving the Engine Itself Correct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Verus Formal Verification of the RVM (Rego Virtual Machine)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3657600" cy="228600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❓  The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108960" cy="137160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Z3 proves properties about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your POLICIES...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But who proves the ENGINE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that runs them is correct?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23360" y="2514600"/>
            <a:ext cx="822960" cy="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46320" y="1371600"/>
            <a:ext cx="3200400" cy="2286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59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🛡️  Verus — Rust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2651760" cy="13716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Verus verifies Rust code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at compile time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Mathematical proofs that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the RVM implementation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matches its specification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0" y="2514600"/>
            <a:ext cx="640080" cy="0"/>
          </a:xfrm>
          <a:prstGeom prst="line">
            <a:avLst/>
          </a:prstGeom>
          <a:ln w="25400">
            <a:solidFill>
              <a:srgbClr val="388E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0" y="1371600"/>
            <a:ext cx="3200400" cy="2286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✅  Verified Properties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920240"/>
            <a:ext cx="2651760" cy="4572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No register out-of-bounds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468880"/>
            <a:ext cx="2651760" cy="4572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Instruction limits enforced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017520"/>
            <a:ext cx="2651760" cy="4572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Value invariants preserved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11430000" cy="20116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Verification Stack — Two Layers of Formal Guarantees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5029200" cy="9144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Layer 1: Z3 Analysis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Proves properties about YOUR POLICIES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(test gen, diff, compliance, gap detection)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60"/>
                </a:solidFill>
              </a:defRPr>
            </a:pPr>
            <a:r>
              <a:t>External → Z3 SMT solver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73E8"/>
                </a:solidFill>
              </a:defRPr>
            </a:pPr>
            <a: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663440"/>
            <a:ext cx="5029200" cy="9144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Layer 2: Verus Verification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Proves the ENGINE ITSELF is correct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(no crashes, no memory errors, spec compliance)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60"/>
                </a:solidFill>
              </a:defRPr>
            </a:pPr>
            <a:r>
              <a:t>Internal → Rust compile-time proofs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Verified policies running on a verified engine — end-to-end mathematical trust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Business Impact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Why This Matters for Your Service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640080" cy="6400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1A1A2E"/>
                </a:solidFill>
              </a:defRPr>
            </a:pPr>
            <a:r>
              <a:t>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Eliminate Coverage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Automatically test every reachable decision path — including edge cases engineers would miss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640080" cy="64008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1A1A2E"/>
                </a:solidFill>
              </a:defRPr>
            </a:pPr>
            <a:r>
              <a:t>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Safe Policy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871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Mathematically prove that a policy refactor doesn't change behavior before deploying to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640080" cy="6400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1A1A2E"/>
                </a:solidFill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Faster Incident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10127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When a request is denied, instantly identify which specific condition failed and why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640080" cy="640080"/>
          </a:xfrm>
          <a:prstGeom prst="roundRect">
            <a:avLst/>
          </a:prstGeom>
          <a:solidFill>
            <a:srgbClr val="C5CAE9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1A1A2E"/>
                </a:solidFill>
              </a:defRPr>
            </a:pPr>
            <a: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Compliance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330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Produce mathematical proofs that security rules cannot be bypassed — not just test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640080" cy="64008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1A1A2E"/>
                </a:solidFill>
              </a:defRPr>
            </a:pPr>
            <a:r>
              <a:t>⏱️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Reduce QA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956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Replace weeks of manual test authoring with a single command that generates complete test suites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86400"/>
            <a:ext cx="640080" cy="6400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1A1A2E"/>
                </a:solidFill>
              </a:defRPr>
            </a:pPr>
            <a: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Verified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7790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The policy engine itself is formally verified with Verus — proven correct at compile time, not just tested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Policy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286000"/>
            <a:ext cx="7589520" cy="502920"/>
          </a:xfrm>
          <a:prstGeom prst="roundRect">
            <a:avLst/>
          </a:prstGeom>
          <a:solidFill>
            <a:srgbClr val="0A367A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→  Not just testing — mathematical proof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926080"/>
            <a:ext cx="7589520" cy="502920"/>
          </a:xfrm>
          <a:prstGeom prst="roundRect">
            <a:avLst/>
          </a:prstGeom>
          <a:solidFill>
            <a:srgbClr val="0A367A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→  Aviation-grade MC/DC coverage for any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566160"/>
            <a:ext cx="7589520" cy="502920"/>
          </a:xfrm>
          <a:prstGeom prst="roundRect">
            <a:avLst/>
          </a:prstGeom>
          <a:solidFill>
            <a:srgbClr val="0A367A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→  Copilot integration — AI writes, math verifies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206240"/>
            <a:ext cx="7589520" cy="502920"/>
          </a:xfrm>
          <a:prstGeom prst="roundRect">
            <a:avLst/>
          </a:prstGeom>
          <a:solidFill>
            <a:srgbClr val="0A367A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→  Gap detection, SoD proofs, regulatory scanning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846320"/>
            <a:ext cx="7589520" cy="502920"/>
          </a:xfrm>
          <a:prstGeom prst="roundRect">
            <a:avLst/>
          </a:prstGeom>
          <a:solidFill>
            <a:srgbClr val="0A367A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→  Verified engine — Verus proves the RVM itself 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486400"/>
            <a:ext cx="7589520" cy="502920"/>
          </a:xfrm>
          <a:prstGeom prst="roundRect">
            <a:avLst/>
          </a:prstGeom>
          <a:solidFill>
            <a:srgbClr val="0A367A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→  Works with Rego (OPA), Cedar (AWS), and Azure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B5F6"/>
                </a:solidFill>
              </a:defRPr>
            </a:pPr>
            <a:r>
              <a:t>Regorus — microsoft/regorus — Policy Framework Team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DEMO CHEAT SHEET (hidden slide — presenter reference only)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286000" cy="6400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Analyze (find violation)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188720"/>
            <a:ext cx="86868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regorus analyze -d examples/demos/container_admission.rego -e data.container_admission.allow -o false -i ... -s ... --max-loops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2286000" cy="6400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Gen-Tests (MC/DC)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965960"/>
            <a:ext cx="86868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regorus gen-tests -d examples/demos/ags_group_governance.rego -e data.graph.elm_governance_group_membership.deny_result -i ... -s ... --condition-coverage --format annotated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286000" cy="6400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Diff (two versions)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743200"/>
            <a:ext cx="86868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regorus diff --policy1 examples/demos/network_segmentation.rego --policy2 examples/demos/network_segmentation_v2.rego -e data.network_segmentation.compliant -i ... -s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20440"/>
            <a:ext cx="2286000" cy="6400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Subsumes (strictness)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520440"/>
            <a:ext cx="86868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regorus subsumes --old examples/demos/azure_storage_https_v1_definition.json --new examples/demos/azure_storage_https_v2_definition.json -e main -o '"deny"' --azure-aliases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2286000" cy="6400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Azure 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297680"/>
            <a:ext cx="86868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regorus analyze -d examples/demos/azure_storage_https_v1_definition.json -e main -o '"deny"' --azure-aliases examples/demos/azure_policy_aliases.json -i ... -s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74920"/>
            <a:ext cx="2286000" cy="6400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Cedar (IAM)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5074920"/>
            <a:ext cx="86868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regorus analyze -d examples/cedar/examples/iam_zero_trust/policy.cedar -d .../entities.json -e cedar.authorize -o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