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076138031" r:id="rId2"/>
    <p:sldId id="2076138029" r:id="rId3"/>
    <p:sldId id="2076138030" r:id="rId4"/>
    <p:sldId id="2076138032" r:id="rId5"/>
    <p:sldId id="2076138033" r:id="rId6"/>
    <p:sldId id="2076138034" r:id="rId7"/>
    <p:sldId id="2076138035" r:id="rId8"/>
    <p:sldId id="2076138036" r:id="rId9"/>
    <p:sldId id="2076138037" r:id="rId10"/>
    <p:sldId id="2076138038" r:id="rId11"/>
    <p:sldId id="207613803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89"/>
    <p:restoredTop sz="94639"/>
  </p:normalViewPr>
  <p:slideViewPr>
    <p:cSldViewPr snapToGrid="0">
      <p:cViewPr varScale="1">
        <p:scale>
          <a:sx n="114" d="100"/>
          <a:sy n="114" d="100"/>
        </p:scale>
        <p:origin x="19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F21AE9-7487-44DB-8182-8C11200A3C2D}" type="doc">
      <dgm:prSet loTypeId="urn:microsoft.com/office/officeart/2005/8/layout/bProcess3" loCatId="process" qsTypeId="urn:microsoft.com/office/officeart/2005/8/quickstyle/simple5" qsCatId="simple" csTypeId="urn:microsoft.com/office/officeart/2005/8/colors/accent1_1" csCatId="accent1" phldr="1"/>
      <dgm:spPr/>
    </dgm:pt>
    <dgm:pt modelId="{47FC7ECE-1647-4A61-8C72-F05F5CC59C87}">
      <dgm:prSet phldrT="[Text]"/>
      <dgm:spPr/>
      <dgm:t>
        <a:bodyPr/>
        <a:lstStyle/>
        <a:p>
          <a:r>
            <a:rPr lang="en-US"/>
            <a:t>Investigation</a:t>
          </a:r>
        </a:p>
      </dgm:t>
    </dgm:pt>
    <dgm:pt modelId="{D92BFF8C-7BD9-43E7-8853-AEA4F9F708A2}" type="parTrans" cxnId="{08B8124A-8063-433A-A6FA-403914B33F1B}">
      <dgm:prSet/>
      <dgm:spPr/>
      <dgm:t>
        <a:bodyPr/>
        <a:lstStyle/>
        <a:p>
          <a:endParaRPr lang="en-US"/>
        </a:p>
      </dgm:t>
    </dgm:pt>
    <dgm:pt modelId="{1C3FC9BC-F303-4FFC-9CF7-C466516BA143}" type="sibTrans" cxnId="{08B8124A-8063-433A-A6FA-403914B33F1B}">
      <dgm:prSet/>
      <dgm:spPr/>
      <dgm:t>
        <a:bodyPr/>
        <a:lstStyle/>
        <a:p>
          <a:endParaRPr lang="en-US"/>
        </a:p>
      </dgm:t>
    </dgm:pt>
    <dgm:pt modelId="{84104816-AF99-4AF9-8727-2EBE74E3204E}">
      <dgm:prSet phldrT="[Text]"/>
      <dgm:spPr/>
      <dgm:t>
        <a:bodyPr/>
        <a:lstStyle/>
        <a:p>
          <a:r>
            <a:rPr lang="en-US"/>
            <a:t>Gaps in OPA</a:t>
          </a:r>
        </a:p>
      </dgm:t>
    </dgm:pt>
    <dgm:pt modelId="{5E9BB4EE-C65F-48F1-A805-7E1A25175FCC}" type="parTrans" cxnId="{2F21C438-F1C7-4327-A082-3D49AF4CA6B0}">
      <dgm:prSet/>
      <dgm:spPr/>
      <dgm:t>
        <a:bodyPr/>
        <a:lstStyle/>
        <a:p>
          <a:endParaRPr lang="en-US"/>
        </a:p>
      </dgm:t>
    </dgm:pt>
    <dgm:pt modelId="{07786C0E-57B4-4CF1-86C9-93B8DC82A4A6}" type="sibTrans" cxnId="{2F21C438-F1C7-4327-A082-3D49AF4CA6B0}">
      <dgm:prSet/>
      <dgm:spPr/>
      <dgm:t>
        <a:bodyPr/>
        <a:lstStyle/>
        <a:p>
          <a:endParaRPr lang="en-US"/>
        </a:p>
      </dgm:t>
    </dgm:pt>
    <dgm:pt modelId="{ACF6593F-F1F2-4998-ABBF-A9ED1775D977}">
      <dgm:prSet phldrT="[Text]"/>
      <dgm:spPr/>
      <dgm:t>
        <a:bodyPr/>
        <a:lstStyle/>
        <a:p>
          <a:r>
            <a:rPr lang="en-US"/>
            <a:t>Intermediate Language</a:t>
          </a:r>
        </a:p>
      </dgm:t>
    </dgm:pt>
    <dgm:pt modelId="{39A50188-AA82-4309-87E8-25B1C0233038}" type="parTrans" cxnId="{E87CEAAC-DDE2-46D0-A720-FD6EF8F68978}">
      <dgm:prSet/>
      <dgm:spPr/>
      <dgm:t>
        <a:bodyPr/>
        <a:lstStyle/>
        <a:p>
          <a:endParaRPr lang="en-US"/>
        </a:p>
      </dgm:t>
    </dgm:pt>
    <dgm:pt modelId="{501FC043-0C48-4083-A0F3-B58428D5B738}" type="sibTrans" cxnId="{E87CEAAC-DDE2-46D0-A720-FD6EF8F68978}">
      <dgm:prSet/>
      <dgm:spPr/>
      <dgm:t>
        <a:bodyPr/>
        <a:lstStyle/>
        <a:p>
          <a:endParaRPr lang="en-US"/>
        </a:p>
      </dgm:t>
    </dgm:pt>
    <dgm:pt modelId="{2D885C33-995C-4E64-A6EC-3EDC414134F7}">
      <dgm:prSet phldrT="[Text]"/>
      <dgm:spPr/>
      <dgm:t>
        <a:bodyPr/>
        <a:lstStyle/>
        <a:p>
          <a:r>
            <a:rPr lang="en-US"/>
            <a:t>Green Light (Mark Russ, Brendan Burns)</a:t>
          </a:r>
        </a:p>
      </dgm:t>
    </dgm:pt>
    <dgm:pt modelId="{E00875F4-BF3B-478C-95A7-AE39F7956646}" type="parTrans" cxnId="{BB0D6052-4991-45F9-B0AD-13231258ABE2}">
      <dgm:prSet/>
      <dgm:spPr/>
      <dgm:t>
        <a:bodyPr/>
        <a:lstStyle/>
        <a:p>
          <a:endParaRPr lang="en-US"/>
        </a:p>
      </dgm:t>
    </dgm:pt>
    <dgm:pt modelId="{7A5AB02E-D68B-45D0-86CA-52AD97DBC7C4}" type="sibTrans" cxnId="{BB0D6052-4991-45F9-B0AD-13231258ABE2}">
      <dgm:prSet/>
      <dgm:spPr/>
      <dgm:t>
        <a:bodyPr/>
        <a:lstStyle/>
        <a:p>
          <a:endParaRPr lang="en-US"/>
        </a:p>
      </dgm:t>
    </dgm:pt>
    <dgm:pt modelId="{24E83D29-0ACA-436B-8E3F-67ACABCDDB7A}" type="pres">
      <dgm:prSet presAssocID="{D3F21AE9-7487-44DB-8182-8C11200A3C2D}" presName="Name0" presStyleCnt="0">
        <dgm:presLayoutVars>
          <dgm:dir/>
          <dgm:resizeHandles val="exact"/>
        </dgm:presLayoutVars>
      </dgm:prSet>
      <dgm:spPr/>
    </dgm:pt>
    <dgm:pt modelId="{2528C79C-26EE-4C1F-A834-98412729D8C7}" type="pres">
      <dgm:prSet presAssocID="{47FC7ECE-1647-4A61-8C72-F05F5CC59C87}" presName="node" presStyleLbl="node1" presStyleIdx="0" presStyleCnt="4" custLinFactNeighborX="-62034" custLinFactNeighborY="-1880">
        <dgm:presLayoutVars>
          <dgm:bulletEnabled val="1"/>
        </dgm:presLayoutVars>
      </dgm:prSet>
      <dgm:spPr/>
    </dgm:pt>
    <dgm:pt modelId="{103F68B5-AAB3-47CC-98BA-31695E70B84A}" type="pres">
      <dgm:prSet presAssocID="{1C3FC9BC-F303-4FFC-9CF7-C466516BA143}" presName="sibTrans" presStyleLbl="sibTrans1D1" presStyleIdx="0" presStyleCnt="3"/>
      <dgm:spPr/>
    </dgm:pt>
    <dgm:pt modelId="{BA8477D7-A3FB-4ADB-B447-6D9CB2801A15}" type="pres">
      <dgm:prSet presAssocID="{1C3FC9BC-F303-4FFC-9CF7-C466516BA143}" presName="connectorText" presStyleLbl="sibTrans1D1" presStyleIdx="0" presStyleCnt="3"/>
      <dgm:spPr/>
    </dgm:pt>
    <dgm:pt modelId="{A4B91FAA-3843-4FA9-AE0C-E516692BA55A}" type="pres">
      <dgm:prSet presAssocID="{84104816-AF99-4AF9-8727-2EBE74E3204E}" presName="node" presStyleLbl="node1" presStyleIdx="1" presStyleCnt="4" custLinFactNeighborX="-39398" custLinFactNeighborY="-1880">
        <dgm:presLayoutVars>
          <dgm:bulletEnabled val="1"/>
        </dgm:presLayoutVars>
      </dgm:prSet>
      <dgm:spPr/>
    </dgm:pt>
    <dgm:pt modelId="{6CEEC85A-B552-4C53-AF20-46664EB2C867}" type="pres">
      <dgm:prSet presAssocID="{07786C0E-57B4-4CF1-86C9-93B8DC82A4A6}" presName="sibTrans" presStyleLbl="sibTrans1D1" presStyleIdx="1" presStyleCnt="3"/>
      <dgm:spPr/>
    </dgm:pt>
    <dgm:pt modelId="{7F7F1450-126E-4D00-897B-2732F9B2D450}" type="pres">
      <dgm:prSet presAssocID="{07786C0E-57B4-4CF1-86C9-93B8DC82A4A6}" presName="connectorText" presStyleLbl="sibTrans1D1" presStyleIdx="1" presStyleCnt="3"/>
      <dgm:spPr/>
    </dgm:pt>
    <dgm:pt modelId="{7C681A02-4F65-4016-B1AA-B73352B7B8C8}" type="pres">
      <dgm:prSet presAssocID="{ACF6593F-F1F2-4998-ABBF-A9ED1775D977}" presName="node" presStyleLbl="node1" presStyleIdx="2" presStyleCnt="4" custLinFactNeighborX="55595" custLinFactNeighborY="4316">
        <dgm:presLayoutVars>
          <dgm:bulletEnabled val="1"/>
        </dgm:presLayoutVars>
      </dgm:prSet>
      <dgm:spPr/>
    </dgm:pt>
    <dgm:pt modelId="{1D279C5A-5749-4BBF-B9EF-5972FA8DDE07}" type="pres">
      <dgm:prSet presAssocID="{501FC043-0C48-4083-A0F3-B58428D5B738}" presName="sibTrans" presStyleLbl="sibTrans1D1" presStyleIdx="2" presStyleCnt="3"/>
      <dgm:spPr/>
    </dgm:pt>
    <dgm:pt modelId="{9E836AA7-3CF3-4B44-9D0D-250BAFC4F650}" type="pres">
      <dgm:prSet presAssocID="{501FC043-0C48-4083-A0F3-B58428D5B738}" presName="connectorText" presStyleLbl="sibTrans1D1" presStyleIdx="2" presStyleCnt="3"/>
      <dgm:spPr/>
    </dgm:pt>
    <dgm:pt modelId="{DC55D360-BFDE-44FA-B118-B894BB09ADB2}" type="pres">
      <dgm:prSet presAssocID="{2D885C33-995C-4E64-A6EC-3EDC414134F7}" presName="node" presStyleLbl="node1" presStyleIdx="3" presStyleCnt="4" custLinFactNeighborX="62972" custLinFactNeighborY="-7310">
        <dgm:presLayoutVars>
          <dgm:bulletEnabled val="1"/>
        </dgm:presLayoutVars>
      </dgm:prSet>
      <dgm:spPr/>
    </dgm:pt>
  </dgm:ptLst>
  <dgm:cxnLst>
    <dgm:cxn modelId="{2F21C438-F1C7-4327-A082-3D49AF4CA6B0}" srcId="{D3F21AE9-7487-44DB-8182-8C11200A3C2D}" destId="{84104816-AF99-4AF9-8727-2EBE74E3204E}" srcOrd="1" destOrd="0" parTransId="{5E9BB4EE-C65F-48F1-A805-7E1A25175FCC}" sibTransId="{07786C0E-57B4-4CF1-86C9-93B8DC82A4A6}"/>
    <dgm:cxn modelId="{5845F43E-BCD3-4AFB-93E0-B4ED0FE2EBDE}" type="presOf" srcId="{07786C0E-57B4-4CF1-86C9-93B8DC82A4A6}" destId="{6CEEC85A-B552-4C53-AF20-46664EB2C867}" srcOrd="0" destOrd="0" presId="urn:microsoft.com/office/officeart/2005/8/layout/bProcess3"/>
    <dgm:cxn modelId="{08B8124A-8063-433A-A6FA-403914B33F1B}" srcId="{D3F21AE9-7487-44DB-8182-8C11200A3C2D}" destId="{47FC7ECE-1647-4A61-8C72-F05F5CC59C87}" srcOrd="0" destOrd="0" parTransId="{D92BFF8C-7BD9-43E7-8853-AEA4F9F708A2}" sibTransId="{1C3FC9BC-F303-4FFC-9CF7-C466516BA143}"/>
    <dgm:cxn modelId="{BB0D6052-4991-45F9-B0AD-13231258ABE2}" srcId="{D3F21AE9-7487-44DB-8182-8C11200A3C2D}" destId="{2D885C33-995C-4E64-A6EC-3EDC414134F7}" srcOrd="3" destOrd="0" parTransId="{E00875F4-BF3B-478C-95A7-AE39F7956646}" sibTransId="{7A5AB02E-D68B-45D0-86CA-52AD97DBC7C4}"/>
    <dgm:cxn modelId="{9BF45766-13EB-4C01-80A4-34DCA4C04D62}" type="presOf" srcId="{1C3FC9BC-F303-4FFC-9CF7-C466516BA143}" destId="{103F68B5-AAB3-47CC-98BA-31695E70B84A}" srcOrd="0" destOrd="0" presId="urn:microsoft.com/office/officeart/2005/8/layout/bProcess3"/>
    <dgm:cxn modelId="{4F25567C-6220-4541-A554-95C936F53072}" type="presOf" srcId="{47FC7ECE-1647-4A61-8C72-F05F5CC59C87}" destId="{2528C79C-26EE-4C1F-A834-98412729D8C7}" srcOrd="0" destOrd="0" presId="urn:microsoft.com/office/officeart/2005/8/layout/bProcess3"/>
    <dgm:cxn modelId="{9BB3EE80-03FC-4AD2-AB16-B71A20604CBC}" type="presOf" srcId="{84104816-AF99-4AF9-8727-2EBE74E3204E}" destId="{A4B91FAA-3843-4FA9-AE0C-E516692BA55A}" srcOrd="0" destOrd="0" presId="urn:microsoft.com/office/officeart/2005/8/layout/bProcess3"/>
    <dgm:cxn modelId="{10613B81-1996-45DD-A272-94974307B9BE}" type="presOf" srcId="{501FC043-0C48-4083-A0F3-B58428D5B738}" destId="{9E836AA7-3CF3-4B44-9D0D-250BAFC4F650}" srcOrd="1" destOrd="0" presId="urn:microsoft.com/office/officeart/2005/8/layout/bProcess3"/>
    <dgm:cxn modelId="{1FA83898-CB79-4D45-899A-1A8D19E83F06}" type="presOf" srcId="{2D885C33-995C-4E64-A6EC-3EDC414134F7}" destId="{DC55D360-BFDE-44FA-B118-B894BB09ADB2}" srcOrd="0" destOrd="0" presId="urn:microsoft.com/office/officeart/2005/8/layout/bProcess3"/>
    <dgm:cxn modelId="{E87CEAAC-DDE2-46D0-A720-FD6EF8F68978}" srcId="{D3F21AE9-7487-44DB-8182-8C11200A3C2D}" destId="{ACF6593F-F1F2-4998-ABBF-A9ED1775D977}" srcOrd="2" destOrd="0" parTransId="{39A50188-AA82-4309-87E8-25B1C0233038}" sibTransId="{501FC043-0C48-4083-A0F3-B58428D5B738}"/>
    <dgm:cxn modelId="{965E21C7-1BBC-4E42-8A72-C1DEC5898B63}" type="presOf" srcId="{ACF6593F-F1F2-4998-ABBF-A9ED1775D977}" destId="{7C681A02-4F65-4016-B1AA-B73352B7B8C8}" srcOrd="0" destOrd="0" presId="urn:microsoft.com/office/officeart/2005/8/layout/bProcess3"/>
    <dgm:cxn modelId="{04BF1FDD-8B45-486C-95A3-6F4A5134ABC6}" type="presOf" srcId="{07786C0E-57B4-4CF1-86C9-93B8DC82A4A6}" destId="{7F7F1450-126E-4D00-897B-2732F9B2D450}" srcOrd="1" destOrd="0" presId="urn:microsoft.com/office/officeart/2005/8/layout/bProcess3"/>
    <dgm:cxn modelId="{EF371BE9-87CE-4357-ACC1-2146612E6E6B}" type="presOf" srcId="{501FC043-0C48-4083-A0F3-B58428D5B738}" destId="{1D279C5A-5749-4BBF-B9EF-5972FA8DDE07}" srcOrd="0" destOrd="0" presId="urn:microsoft.com/office/officeart/2005/8/layout/bProcess3"/>
    <dgm:cxn modelId="{1EFFDDEA-EB6A-4CC6-8D74-93FE493B2D59}" type="presOf" srcId="{1C3FC9BC-F303-4FFC-9CF7-C466516BA143}" destId="{BA8477D7-A3FB-4ADB-B447-6D9CB2801A15}" srcOrd="1" destOrd="0" presId="urn:microsoft.com/office/officeart/2005/8/layout/bProcess3"/>
    <dgm:cxn modelId="{CD8BD3F6-4999-4D17-ABB3-80C64DB9538E}" type="presOf" srcId="{D3F21AE9-7487-44DB-8182-8C11200A3C2D}" destId="{24E83D29-0ACA-436B-8E3F-67ACABCDDB7A}" srcOrd="0" destOrd="0" presId="urn:microsoft.com/office/officeart/2005/8/layout/bProcess3"/>
    <dgm:cxn modelId="{A3553632-4C9A-4907-8607-6A3308D04EFC}" type="presParOf" srcId="{24E83D29-0ACA-436B-8E3F-67ACABCDDB7A}" destId="{2528C79C-26EE-4C1F-A834-98412729D8C7}" srcOrd="0" destOrd="0" presId="urn:microsoft.com/office/officeart/2005/8/layout/bProcess3"/>
    <dgm:cxn modelId="{FC3E76E0-2496-495B-BBB8-98669ACAE1C5}" type="presParOf" srcId="{24E83D29-0ACA-436B-8E3F-67ACABCDDB7A}" destId="{103F68B5-AAB3-47CC-98BA-31695E70B84A}" srcOrd="1" destOrd="0" presId="urn:microsoft.com/office/officeart/2005/8/layout/bProcess3"/>
    <dgm:cxn modelId="{406C867D-8963-4217-BC73-4E36DAAAFC1C}" type="presParOf" srcId="{103F68B5-AAB3-47CC-98BA-31695E70B84A}" destId="{BA8477D7-A3FB-4ADB-B447-6D9CB2801A15}" srcOrd="0" destOrd="0" presId="urn:microsoft.com/office/officeart/2005/8/layout/bProcess3"/>
    <dgm:cxn modelId="{31AB7392-D24C-4CDE-AC63-0089AEBFF5F0}" type="presParOf" srcId="{24E83D29-0ACA-436B-8E3F-67ACABCDDB7A}" destId="{A4B91FAA-3843-4FA9-AE0C-E516692BA55A}" srcOrd="2" destOrd="0" presId="urn:microsoft.com/office/officeart/2005/8/layout/bProcess3"/>
    <dgm:cxn modelId="{C9A2A92F-ECAF-4C5C-8816-F9F856D3B070}" type="presParOf" srcId="{24E83D29-0ACA-436B-8E3F-67ACABCDDB7A}" destId="{6CEEC85A-B552-4C53-AF20-46664EB2C867}" srcOrd="3" destOrd="0" presId="urn:microsoft.com/office/officeart/2005/8/layout/bProcess3"/>
    <dgm:cxn modelId="{BECDCEEE-9AA4-4F25-80BE-A0603583687E}" type="presParOf" srcId="{6CEEC85A-B552-4C53-AF20-46664EB2C867}" destId="{7F7F1450-126E-4D00-897B-2732F9B2D450}" srcOrd="0" destOrd="0" presId="urn:microsoft.com/office/officeart/2005/8/layout/bProcess3"/>
    <dgm:cxn modelId="{DA4D02F4-67EF-452D-84D0-3BDFFE52B4DD}" type="presParOf" srcId="{24E83D29-0ACA-436B-8E3F-67ACABCDDB7A}" destId="{7C681A02-4F65-4016-B1AA-B73352B7B8C8}" srcOrd="4" destOrd="0" presId="urn:microsoft.com/office/officeart/2005/8/layout/bProcess3"/>
    <dgm:cxn modelId="{B8C27607-85CD-4E77-9937-B52E94F5008A}" type="presParOf" srcId="{24E83D29-0ACA-436B-8E3F-67ACABCDDB7A}" destId="{1D279C5A-5749-4BBF-B9EF-5972FA8DDE07}" srcOrd="5" destOrd="0" presId="urn:microsoft.com/office/officeart/2005/8/layout/bProcess3"/>
    <dgm:cxn modelId="{5E0CF679-7DF7-429F-88F4-8D460575EC40}" type="presParOf" srcId="{1D279C5A-5749-4BBF-B9EF-5972FA8DDE07}" destId="{9E836AA7-3CF3-4B44-9D0D-250BAFC4F650}" srcOrd="0" destOrd="0" presId="urn:microsoft.com/office/officeart/2005/8/layout/bProcess3"/>
    <dgm:cxn modelId="{0F8EED34-7180-4B61-9BD1-0EC0F0CF4688}" type="presParOf" srcId="{24E83D29-0ACA-436B-8E3F-67ACABCDDB7A}" destId="{DC55D360-BFDE-44FA-B118-B894BB09ADB2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F68B5-AAB3-47CC-98BA-31695E70B84A}">
      <dsp:nvSpPr>
        <dsp:cNvPr id="0" name=""/>
        <dsp:cNvSpPr/>
      </dsp:nvSpPr>
      <dsp:spPr>
        <a:xfrm>
          <a:off x="1922609" y="459640"/>
          <a:ext cx="738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815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72467" y="503422"/>
        <a:ext cx="38437" cy="3874"/>
      </dsp:txXfrm>
    </dsp:sp>
    <dsp:sp modelId="{2528C79C-26EE-4C1F-A834-98412729D8C7}">
      <dsp:nvSpPr>
        <dsp:cNvPr id="0" name=""/>
        <dsp:cNvSpPr/>
      </dsp:nvSpPr>
      <dsp:spPr>
        <a:xfrm>
          <a:off x="239875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Investigation</a:t>
          </a:r>
        </a:p>
      </dsp:txBody>
      <dsp:txXfrm>
        <a:off x="239875" y="0"/>
        <a:ext cx="1684533" cy="1010720"/>
      </dsp:txXfrm>
    </dsp:sp>
    <dsp:sp modelId="{6CEEC85A-B552-4C53-AF20-46664EB2C867}">
      <dsp:nvSpPr>
        <dsp:cNvPr id="0" name=""/>
        <dsp:cNvSpPr/>
      </dsp:nvSpPr>
      <dsp:spPr>
        <a:xfrm>
          <a:off x="4375897" y="459640"/>
          <a:ext cx="19570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95616" y="45720"/>
              </a:lnTo>
              <a:lnTo>
                <a:pt x="995616" y="46970"/>
              </a:lnTo>
              <a:lnTo>
                <a:pt x="1957032" y="469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722" y="503422"/>
        <a:ext cx="99381" cy="3874"/>
      </dsp:txXfrm>
    </dsp:sp>
    <dsp:sp modelId="{A4B91FAA-3843-4FA9-AE0C-E516692BA55A}">
      <dsp:nvSpPr>
        <dsp:cNvPr id="0" name=""/>
        <dsp:cNvSpPr/>
      </dsp:nvSpPr>
      <dsp:spPr>
        <a:xfrm>
          <a:off x="2693163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Gaps in OPA</a:t>
          </a:r>
        </a:p>
      </dsp:txBody>
      <dsp:txXfrm>
        <a:off x="2693163" y="0"/>
        <a:ext cx="1684533" cy="1010720"/>
      </dsp:txXfrm>
    </dsp:sp>
    <dsp:sp modelId="{1D279C5A-5749-4BBF-B9EF-5972FA8DDE07}">
      <dsp:nvSpPr>
        <dsp:cNvPr id="0" name=""/>
        <dsp:cNvSpPr/>
      </dsp:nvSpPr>
      <dsp:spPr>
        <a:xfrm>
          <a:off x="8048063" y="459640"/>
          <a:ext cx="4811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970"/>
              </a:moveTo>
              <a:lnTo>
                <a:pt x="257655" y="46970"/>
              </a:lnTo>
              <a:lnTo>
                <a:pt x="257655" y="45720"/>
              </a:lnTo>
              <a:lnTo>
                <a:pt x="48111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75825" y="503422"/>
        <a:ext cx="25585" cy="3874"/>
      </dsp:txXfrm>
    </dsp:sp>
    <dsp:sp modelId="{7C681A02-4F65-4016-B1AA-B73352B7B8C8}">
      <dsp:nvSpPr>
        <dsp:cNvPr id="0" name=""/>
        <dsp:cNvSpPr/>
      </dsp:nvSpPr>
      <dsp:spPr>
        <a:xfrm>
          <a:off x="6365329" y="125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Intermediate Language</a:t>
          </a:r>
        </a:p>
      </dsp:txBody>
      <dsp:txXfrm>
        <a:off x="6365329" y="1250"/>
        <a:ext cx="1684533" cy="1010720"/>
      </dsp:txXfrm>
    </dsp:sp>
    <dsp:sp modelId="{DC55D360-BFDE-44FA-B118-B894BB09ADB2}">
      <dsp:nvSpPr>
        <dsp:cNvPr id="0" name=""/>
        <dsp:cNvSpPr/>
      </dsp:nvSpPr>
      <dsp:spPr>
        <a:xfrm>
          <a:off x="8561574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Green Light (Mark Russ, Brendan Burns)</a:t>
          </a:r>
        </a:p>
      </dsp:txBody>
      <dsp:txXfrm>
        <a:off x="8561574" y="0"/>
        <a:ext cx="1684533" cy="1010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1F1F5-42C9-B04A-9841-D260DA0D365C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5329-199B-504B-9123-A42B76724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quicker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How we started focusing on this (CTO suggestion to align on a policy engine – OPA)</a:t>
            </a:r>
          </a:p>
          <a:p>
            <a:pPr marL="171450" indent="-171450">
              <a:buFontTx/>
              <a:buChar char="-"/>
            </a:pPr>
            <a:r>
              <a:rPr lang="en-US"/>
              <a:t>Issues with OPA</a:t>
            </a:r>
          </a:p>
          <a:p>
            <a:pPr marL="171450" indent="-171450">
              <a:buFontTx/>
              <a:buChar char="-"/>
            </a:pPr>
            <a:r>
              <a:rPr lang="en-US"/>
              <a:t>Our solution: standardize on a common policy engine &amp; framework, with flexibility when it comes to the interface language</a:t>
            </a:r>
          </a:p>
          <a:p>
            <a:pPr marL="171450" indent="-171450">
              <a:buFontTx/>
              <a:buChar char="-"/>
            </a:pPr>
            <a:r>
              <a:rPr lang="en-US"/>
              <a:t>Green light from Mark Russ, </a:t>
            </a:r>
            <a:r>
              <a:rPr lang="en-US" err="1"/>
              <a:t>BBurns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05329-199B-504B-9123-A42B767244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32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EDFF-989E-6024-5AAD-F6298CA7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AB9F3-977D-FBC2-DBFB-28B47C759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456E-4E15-AC38-38A1-2567E46E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AF065-2CFF-8844-33CF-B869490D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4FBD-E46A-EC6D-627C-886A4CE1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8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6DCC-3FE3-7508-163F-93DCE953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E993-0BE5-8912-4E53-D8F72EC6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0667-5875-115F-2D30-2CED745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D425-66E0-47E8-8744-DF806BCB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26BA-55AA-CC5D-C47C-B7A19AB0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6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8853-C2EA-C1BF-CEFD-A5B4B86A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679B4-F3F2-37BC-F697-5E1A75B5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F9C7-0FAC-400C-F1BE-F58B10CB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A12D-8299-D600-C03A-CBC40935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C042-14A1-3FF0-3633-4316CFA2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F8BF-ECCA-8BAB-8069-CAE38F2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13BE-BF7C-2883-C832-D0CD0A101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05EE5-6DD3-AA51-07A7-FB7B6042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1B762-D5C9-9CB3-7C2F-0F366148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390FC-D465-BA28-E0D7-062D42C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BFF3C-2FB8-C672-245C-6772828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552-14CD-D00C-8E17-BA85EC28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1E51-3AD0-FC8A-A13B-A99B224A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54121-6B69-5D03-EC22-B5A6EDED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0955D-C373-0453-03B8-19A9DBA9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E9481-0AAD-AD44-4A15-37DB270E8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01FB-D97C-35A7-5EFC-8805907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11FEF-E952-E889-527A-356762D7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E413-5F23-8F7B-2CFC-9F775FD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CFF8-3B43-E32F-026C-A83EB9DA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91A97-0B33-DFB3-632C-D89D2C02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FDFAE-FE4E-90D1-8562-EFC41F21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B5D8-05AE-5130-4F32-FBF2F9D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972F2-7A8E-C1DF-B6AE-07E85A2D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B4343-889C-4228-704F-3CB8F9B0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F066-E000-173A-9C04-E96B93B1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6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087B-4FA9-0471-6D20-F2A61C9F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05EF-BEAF-29E9-8959-83A6B3DE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190D-BA8F-0C7B-C5E0-5F8068ED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48D8-4D0F-136A-A2AB-360A54AF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E2D1C-8E67-3A1E-272E-DB72D050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8FE73-849A-EC3E-62F4-BD4ED04F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B6D-D8E1-44B2-76AB-195E3E9C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DE755-AF4D-5BBD-0EBF-AEE1FB4E1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11A6C-F23D-D224-9EF0-B5298A74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B0701-8A35-D6AB-18DF-30EC0542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E462-F3D7-5E10-7A7E-4CF46DAB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DC74B-8A40-1B00-D490-C5F87FC6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1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BC7-A77C-540D-744D-77CB295B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EDEFB-ECB0-8A5A-4A6D-A970BB543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A30F-1B8F-5F4A-0206-64299AF2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D49F-8A8F-5DB4-0B62-12284A68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01BF-8737-38BA-F306-5CB45A51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B5304-D850-DB29-694A-DFE86A5AE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4A4F4-DB46-F882-E03C-EBE0E61F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F9D3-1373-5177-F887-05161E13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44B4-88CD-6229-4E32-B2EB8E18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B145-5ADB-D520-BFB1-3F215882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5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7F82C-49E2-7300-B159-99902537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BBDD-CDF8-0F60-9154-05F51CD8E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446-637F-F39E-D9EE-1102B5F5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02F7-11D9-7F47-B90E-7CAF4A3265D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300F-DD2E-C708-2C73-FA185991C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07BF-34CF-872E-2128-9455F137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403.04651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nakrish.github.io/rego-virtual-machine-playground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regorus" TargetMode="External"/><Relationship Id="rId2" Type="http://schemas.openxmlformats.org/officeDocument/2006/relationships/hyperlink" Target="https://anakrish.github.io/rego-virtual-machine-playground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C6282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</a:rPr>
              <a:t>Azure Policy must support multiple policy languages.
Across Microsoft, teams maintain separate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183" y="21031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5727" y="21031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9271" y="21031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2103120"/>
            <a:ext cx="1920240" cy="91440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6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11094415" cy="594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800" b="1">
                <a:solidFill>
                  <a:srgbClr val="C62828"/>
                </a:solidFill>
              </a:rPr>
              <a:t>N engines  =  N × audits  +  N × test suites  +  N × pipelines  +  N ×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33333"/>
                </a:solidFill>
              </a:rPr>
              <a:t>Multiplicative cost. Inconsistent behavior. Fragmented tooling.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</a:rPr>
              <a:t>Every new policy language multiplies the problem.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B25E84-73F2-7A9F-4118-DDD2114C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43" y="3897388"/>
            <a:ext cx="3684311" cy="27724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48EDC-51FD-91B9-8D38-88DF9A3F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910" y="384971"/>
            <a:ext cx="5729129" cy="193358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94534B-B0BF-F334-3816-DC74644B70E8}"/>
              </a:ext>
            </a:extLst>
          </p:cNvPr>
          <p:cNvGraphicFramePr/>
          <p:nvPr/>
        </p:nvGraphicFramePr>
        <p:xfrm>
          <a:off x="926511" y="2575379"/>
          <a:ext cx="10470183" cy="1011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3C60FB-303A-989C-2B91-3E04C0EB55E5}"/>
              </a:ext>
            </a:extLst>
          </p:cNvPr>
          <p:cNvSpPr/>
          <p:nvPr/>
        </p:nvSpPr>
        <p:spPr>
          <a:xfrm>
            <a:off x="-195" y="5076950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6B142-7E6B-F98F-A4DF-DE4A5D5D2966}"/>
              </a:ext>
            </a:extLst>
          </p:cNvPr>
          <p:cNvSpPr/>
          <p:nvPr/>
        </p:nvSpPr>
        <p:spPr>
          <a:xfrm>
            <a:off x="-195" y="4050823"/>
            <a:ext cx="169185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 Tenancy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AC473C-9743-1226-BBF9-DAB867587403}"/>
              </a:ext>
            </a:extLst>
          </p:cNvPr>
          <p:cNvSpPr/>
          <p:nvPr/>
        </p:nvSpPr>
        <p:spPr>
          <a:xfrm>
            <a:off x="-195" y="5980735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Lifecycle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12098-2401-977F-C159-367EF80B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5" y="74933"/>
            <a:ext cx="11485009" cy="5559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/>
              <a:t>Background: Azure CTO Memo: “How to Policy”/OPA</a:t>
            </a:r>
          </a:p>
        </p:txBody>
      </p:sp>
      <p:pic>
        <p:nvPicPr>
          <p:cNvPr id="6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5986419-691B-CA6B-5075-66977174A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147" y="3844177"/>
            <a:ext cx="4719547" cy="2899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44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-3657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 err="1">
                <a:solidFill>
                  <a:srgbClr val="1B5E20"/>
                </a:solidFill>
              </a:rPr>
              <a:t>Regorus</a:t>
            </a:r>
            <a:r>
              <a:rPr sz="3600" b="1" dirty="0">
                <a:solidFill>
                  <a:srgbClr val="1B5E20"/>
                </a:solidFill>
              </a:rPr>
              <a:t> Engine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91440"/>
            <a:ext cx="1280160" cy="8503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7091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B6B6B"/>
                </a:solidFill>
              </a:rPr>
              <a:t>Rego-Rus(t) — A fast, lightweight, open-source Rego interpreter written in Rust.  Rigorous enforcer of well-defined Rego semantics.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Origin: Confidential Containers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97280"/>
            <a:ext cx="4846320" cy="2971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86868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</a:rPr>
              <a:t>Regorus 6.5× faster than Cedar, 80× faster than OPA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097280"/>
            <a:ext cx="3657600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38404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u="sng">
                <a:solidFill>
                  <a:srgbClr val="0078D4"/>
                </a:solidFill>
                <a:hlinkClick r:id="rId6"/>
              </a:rPr>
              <a:t>Cedar paper: arxiv.org/abs/2403.04651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1109441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323" y="420711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B5E20"/>
                </a:solidFill>
              </a:rPr>
              <a:t>Open Source Adoption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79"/>
            <a:ext cx="5303520" cy="256032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Kata Containers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9744"/>
            <a:ext cx="5303520" cy="29260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000" b="0">
                <a:solidFill>
                  <a:srgbClr val="333333"/>
                </a:solidFill>
              </a:rPr>
              <a:t>Container runtime for confidential containers — uses Regorus for policy evaluation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9535" y="4526279"/>
            <a:ext cx="5303520" cy="256032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NVIDIA Attestation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9535" y="4809744"/>
            <a:ext cx="5303520" cy="29260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000" b="0">
                <a:solidFill>
                  <a:srgbClr val="333333"/>
                </a:solidFill>
              </a:rPr>
              <a:t>GPU attestation and verification — Regorus enforces attestation 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754" y="51846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565C0"/>
                </a:solidFill>
              </a:rPr>
              <a:t>Internal Microsoft Adoption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13832"/>
            <a:ext cx="201168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000" b="1">
                <a:solidFill>
                  <a:srgbClr val="1565C0"/>
                </a:solidFill>
              </a:rPr>
              <a:t>AKS Confidential
Containers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9323" y="5513832"/>
            <a:ext cx="201168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000" b="1">
                <a:solidFill>
                  <a:srgbClr val="1565C0"/>
                </a:solidFill>
              </a:rPr>
              <a:t>Policy Control
Point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0007" y="5513832"/>
            <a:ext cx="201168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000" b="1">
                <a:solidFill>
                  <a:srgbClr val="1565C0"/>
                </a:solidFill>
              </a:rPr>
              <a:t>Azure Graph
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691" y="5513832"/>
            <a:ext cx="201168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000" b="1">
                <a:solidFill>
                  <a:srgbClr val="1565C0"/>
                </a:solidFill>
              </a:rPr>
              <a:t>JIT
(Just-In-Time)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5" y="5513832"/>
            <a:ext cx="2011680" cy="4114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000" b="1">
                <a:solidFill>
                  <a:srgbClr val="1565C0"/>
                </a:solidFill>
              </a:rPr>
              <a:t>Network Config
Validator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07608"/>
            <a:ext cx="110944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6B6B6B"/>
                </a:solidFill>
              </a:rPr>
              <a:t>Open source (MIT) — </a:t>
            </a:r>
            <a:r>
              <a:rPr sz="1000" b="0" dirty="0" err="1">
                <a:solidFill>
                  <a:srgbClr val="6B6B6B"/>
                </a:solidFill>
              </a:rPr>
              <a:t>github.com</a:t>
            </a:r>
            <a:r>
              <a:rPr sz="1000" b="0" dirty="0">
                <a:solidFill>
                  <a:srgbClr val="6B6B6B"/>
                </a:solidFill>
              </a:rPr>
              <a:t>/</a:t>
            </a:r>
            <a:r>
              <a:rPr sz="1000" b="0" dirty="0" err="1">
                <a:solidFill>
                  <a:srgbClr val="6B6B6B"/>
                </a:solidFill>
              </a:rPr>
              <a:t>microsoft</a:t>
            </a:r>
            <a:r>
              <a:rPr sz="1000" b="0" dirty="0">
                <a:solidFill>
                  <a:srgbClr val="6B6B6B"/>
                </a:solidFill>
              </a:rPr>
              <a:t>/</a:t>
            </a:r>
            <a:r>
              <a:rPr sz="1000" b="0" dirty="0" err="1">
                <a:solidFill>
                  <a:srgbClr val="6B6B6B"/>
                </a:solidFill>
              </a:rPr>
              <a:t>regorus</a:t>
            </a:r>
            <a:r>
              <a:rPr sz="1000" b="0" dirty="0">
                <a:solidFill>
                  <a:srgbClr val="6B6B6B"/>
                </a:solidFill>
              </a:rPr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5E20"/>
                </a:solidFill>
              </a:rPr>
              <a:t>What Java Did for Apps, RVM Does for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6C00"/>
                </a:solidFill>
              </a:rPr>
              <a:t>JVM  (Applications)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2347" y="1371600"/>
            <a:ext cx="21945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Java · Kotlin
Scala · Groovy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120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49827" y="1371600"/>
            <a:ext cx="21945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868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7307" y="1371600"/>
            <a:ext cx="2194560" cy="8686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Java Bytecode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6167" y="1554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4787" y="1371600"/>
            <a:ext cx="219456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JVM: Any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</a:rPr>
              <a:t>RVM  (Policy)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2347" y="3017520"/>
            <a:ext cx="21945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Rego · Cedar
Azure Policy ·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1207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9827" y="3017520"/>
            <a:ext cx="21945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8687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7" y="3017520"/>
            <a:ext cx="2194560" cy="8686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RVM Bytecode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6167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4787" y="3017520"/>
            <a:ext cx="21945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RVM: Any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What this gives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–  One security surface to audit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–  One engine to optimize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–  One test framework to maintain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–  One artifact to deploy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–  Any new language gets the entire tooling ecosystem for free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E6C9"/>
                </a:solidFill>
              </a:rPr>
              <a:t>Rego  →  Compile to bytecode  → 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E6C9"/>
                </a:solidFill>
              </a:rPr>
              <a:t>Cedar  →  Same bytecode target  →  Same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E6C9"/>
                </a:solidFill>
              </a:rPr>
              <a:t>Azure Policy  →  Same bytecode target  →  Same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u="sng">
                <a:solidFill>
                  <a:srgbClr val="0078D4"/>
                </a:solidFill>
                <a:hlinkClick r:id="rId2"/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A Comparison with Amazon’s Cedar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</a:rPr>
              <a:t>Cedar and RVM are independent efforts with different architectures and different design 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25880"/>
            <a:ext cx="5212080" cy="50292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Cedar SDK  (Amazon)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Strong formal foundations — Dafny proofs, 100M DRT/night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02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Purpose-built for authorization (RBAC + ABAC)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59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Amazon Verified Permissions — managed cloud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1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Open source (Apache 2.0), ~5.7K GitHub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7296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–  Single language — Cedar only, no Rego or Azure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4728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–  AST tree-walking evaluator — no bytecode compilation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2160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–  No mid-evaluation host callbacks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959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–  No suspendable execution, no step-through debugging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7024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62828"/>
                </a:solidFill>
              </a:rPr>
              <a:t>–  Limited expressiveness — no loops, no user-defined functions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486400" cy="50292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Regorus / RVM  (Microsoft)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65960"/>
            <a:ext cx="5486400" cy="30175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Multi-language: Rego + Cedar + Azure Policy + extensible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04288"/>
            <a:ext cx="54864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Compiled register-based bytecode — high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42616"/>
            <a:ext cx="5486400" cy="30175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HostAwait: pause mid-eval for external host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80944"/>
            <a:ext cx="54864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Suspendable execution — breakpoints, step-through debugging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19272"/>
            <a:ext cx="5486400" cy="30175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8 language bindings (C, C++, C#, Go, Java, Python, Ruby, JS)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4864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Compile once, run anywhere — WASM, cloud, edge, bare metal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95928"/>
            <a:ext cx="5486400" cy="30175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Instruction budget + memory limits per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334256"/>
            <a:ext cx="54864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Open source (MIT) — github.com/microsoft/regorus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672584"/>
            <a:ext cx="5486400" cy="30175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Full Rego expressiveness — loops, functions, partial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010912"/>
            <a:ext cx="5486400" cy="30175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✓  Z3-powered formal analysis — diff, subsumption, test gen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94415" cy="54864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RVM can also compile Cedar to bytecode — Cedar users get RVM performance, tooling, and formal analysis for free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148C"/>
                </a:solidFill>
              </a:rPr>
              <a:t>Policy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B6B6B"/>
                </a:solidFill>
              </a:rPr>
              <a:t>Bytecode + Z3 unlocks formal analysis across every language RVM supports.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11094415" cy="5486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AWS invested ~8 years building formal analysis (Zelkova, IAM Access Analyzer, Cedar proofs) — only for IAM/Cedar.  None of the capabilities below exist in their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384048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Policy Diff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40864"/>
            <a:ext cx="347472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Prove two policies are equivalent
or find a distinguishing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73552"/>
            <a:ext cx="3291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regorus diff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487" y="1920240"/>
            <a:ext cx="3474720" cy="384048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Policy Subsumption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2340864"/>
            <a:ext cx="347472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Prove new policy is a superset
of old — safe migration guarantee.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3273552"/>
            <a:ext cx="3291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regorus subsumes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920240"/>
            <a:ext cx="3474720" cy="384048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 Test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335" y="2340864"/>
            <a:ext cx="347472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Z3-driven — generate inputs
that cover every code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3273552"/>
            <a:ext cx="3291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regorus gen-tests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474720" cy="384048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MC/DC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23944"/>
            <a:ext cx="347472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Modified condition / decision
coverage — each condition toggled.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56631"/>
            <a:ext cx="3291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--condition-coverage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8487" y="3703320"/>
            <a:ext cx="3474720" cy="384048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Dead Rule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487" y="4123944"/>
            <a:ext cx="347472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UNSAT path = provably unreachable.
No inputs can ever trigger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9927" y="5056631"/>
            <a:ext cx="3291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UNSAT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335" y="3703320"/>
            <a:ext cx="3474720" cy="384048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Input Synthesis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8335" y="4123944"/>
            <a:ext cx="347472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200" b="0">
                <a:solidFill>
                  <a:srgbClr val="333333"/>
                </a:solidFill>
              </a:rPr>
              <a:t>Z3-driven input generation
with JSON output. Target any 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9775" y="5056631"/>
            <a:ext cx="3291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--cover-line / --avoid-line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09441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</a:rPr>
              <a:t>“Novel capabilities include adding to workflows for guardrailing AI-generated policies. The IAM angle is where customers maintain policies over a portal and program policies by hand or their custom automation. When this applies to policies you consume, it makes sense to figure out what to surface.”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— MSR Researcher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3E5F5"/>
                </a:solidFill>
              </a:rPr>
              <a:t>Policy Intelligence — Formal Verification with Z3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regorus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Are these two policies equivalent? Prove it — or find the difference.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251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regorus gen-tests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Auto-generate test inputs that cover every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--cover-line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Synthesize an input that reaches a specific 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074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E6C9"/>
                </a:solidFill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0E0"/>
                </a:solidFill>
              </a:rPr>
              <a:t>MC/DC condition coverage — every condition independently toggled.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</a:rPr>
              <a:t>Z3-powered  ·  Works across Rego, Cedar, Azure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148C"/>
                </a:solidFill>
              </a:rPr>
              <a:t>Copilot + Policy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AI writes the policy — math proves it’s correct.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103120" cy="12344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Developer
“Only allow reads
for interns”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5773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143000"/>
            <a:ext cx="2560320" cy="12344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Copilot
Generates Rego
policy from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5773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143000"/>
            <a:ext cx="2926080" cy="12344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0">
                <a:solidFill>
                  <a:srgbClr val="333333"/>
                </a:solidFill>
              </a:rPr>
              <a:t>Policy Intelligence
Verifies formal properties:
• No privilege escalation
• No bypasses 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331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A148C"/>
                </a:solidFill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143000"/>
            <a:ext cx="265176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400" b="1">
                <a:solidFill>
                  <a:srgbClr val="1B5E20"/>
                </a:solidFill>
              </a:rPr>
              <a:t>VERIFIED
Safe to deploy
→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5316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788920"/>
            <a:ext cx="2926080" cy="10058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300" b="0">
                <a:solidFill>
                  <a:srgbClr val="C62828"/>
                </a:solidFill>
              </a:rPr>
              <a:t>ISSUE FOUND
“Intern with role=manager
can still write”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788920"/>
            <a:ext cx="2834640" cy="41148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1">
                <a:solidFill>
                  <a:srgbClr val="C62828"/>
                </a:solidFill>
              </a:rPr>
              <a:t>←←←  Counterexample fed back to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377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62828"/>
                </a:solidFill>
              </a:rPr>
              <a:t>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291840"/>
            <a:ext cx="2834640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100" b="0">
                <a:solidFill>
                  <a:srgbClr val="6B6B6B"/>
                </a:solidFill>
              </a:rPr>
              <a:t>Copilot auto-revises policy
using the counterexample
and re-submits for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88920"/>
            <a:ext cx="2377440" cy="1005840"/>
          </a:xfrm>
          <a:prstGeom prst="roundRect">
            <a:avLst/>
          </a:prstGeom>
          <a:solidFill>
            <a:srgbClr val="FDF0E5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EF6C00"/>
                </a:solidFill>
              </a:rPr>
              <a:t>Feedback Loop
Repeat until Z3 proof
passes or developer
reviews counterexample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11094415" cy="5029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AI-generated policy gets a mathematical proof before it reaches production. Copilot iterates automatically using counterexamples until the proof passes.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148C"/>
                </a:solidFill>
              </a:rP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–  AI hallucinations caught before deployment — not after an incident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–  Counterexamples become regression tests automatically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–  Works across Rego, Cedar, and Azure Policy — same verification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A148C"/>
                </a:solidFill>
              </a:rPr>
              <a:t>What’s Next — CI Integration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PR Review Bot — Formal Diff in 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011680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333333"/>
                </a:solidFill>
              </a:rPr>
              <a:t>Pull Request
Modifies policy.rego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234440"/>
            <a:ext cx="237744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333333"/>
                </a:solidFill>
              </a:rPr>
              <a:t>CI Pipeline
runs regorus diff
v1 vs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097280"/>
            <a:ext cx="59436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06440" y="114300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5C0"/>
                </a:solidFill>
              </a:rPr>
              <a:t>PR Comment — Formal Diff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89888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Input #1: role=contractor, resource=internal-docs → was ALLOW, now DENY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9105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</a:rPr>
              <a:t>Input #2: role=vendor, action=read → was DENY, now ALLOW  (wider access)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</a:rPr>
              <a:t>No behavioral change → auto-approve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</a:rPr>
              <a:t>Changes found → reviewer sees exact divergent inputs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6B6B6B"/>
                </a:solidFill>
              </a:rPr>
              <a:t>Wider access detected → mandatory security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1109441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695C"/>
                </a:solidFill>
              </a:rPr>
              <a:t>Regulatory Impact Analysis — Scan All Policies for Compliance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11880"/>
            <a:ext cx="2194560" cy="100584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333333"/>
                </a:solidFill>
              </a:rPr>
              <a:t>Regulation
“MFA required for
all PII access”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611880"/>
            <a:ext cx="2377440" cy="100584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333333"/>
                </a:solidFill>
              </a:rPr>
              <a:t>Formalize &amp; Scan
∀ request:
accesses_pii(r) → has_mfa(r)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695C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611880"/>
            <a:ext cx="2286000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ctr"/>
            <a:r>
              <a:rPr sz="1200" b="0">
                <a:solidFill>
                  <a:srgbClr val="1B5E20"/>
                </a:solidFill>
              </a:rPr>
              <a:t>39 services
Compliant
Mathematical proof
for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611880"/>
            <a:ext cx="3200400" cy="100584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100" b="0">
                <a:solidFill>
                  <a:srgbClr val="C62828"/>
                </a:solidFill>
              </a:rPr>
              <a:t>3 services — Gap Found
billing-api: no MFA on /invoices
hr-portal: admin override bypasses PII
analytics: logging exposes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94415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50800" rIns="101600" bIns="50800" rtlCol="0" anchor="ctr"/>
          <a:lstStyle/>
          <a:p>
            <a:pPr algn="l"/>
            <a:r>
              <a:rPr sz="1400" b="0">
                <a:solidFill>
                  <a:srgbClr val="333333"/>
                </a:solidFill>
              </a:rPr>
              <a:t>Each result backed by a mathematical proof — not sampling. Counterexamples pinpoint the exact non-compliant path.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</a:rPr>
              <a:t>Both capabilities work across Rego, Cedar, and Azure Policy — because they operate on RVM bytecode.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
Formal Analysis Built 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Rego  +  Cedar  +  Azure Policy — one bytecode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High performance  ·  Memory safe  ·  Portable  ·  8 language bindings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Policy diff  ·  Subsumption  ·  Auto test generation  · 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83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>Open Source (MIT)  ·  github.com/microsoft/regorus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u="sng">
                <a:solidFill>
                  <a:srgbClr val="FFFFFF"/>
                </a:solidFill>
                <a:hlinkClick r:id="rId2"/>
              </a:rPr>
              <a:t>Try it: https://anakrish.github.io/rego-virtual-machine-playground/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u="sng">
                <a:solidFill>
                  <a:srgbClr val="C8E6C9"/>
                </a:solidFill>
                <a:hlinkClick r:id="rId3"/>
              </a:rPr>
              <a:t>github.com/microsoft/regorus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1395</Words>
  <Application>Microsoft Macintosh PowerPoint</Application>
  <PresentationFormat>Widescreen</PresentationFormat>
  <Paragraphs>179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Background: Azure CTO Memo: “How to Policy”/OPA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Krishnamoorthi</dc:creator>
  <cp:lastModifiedBy>Anand Krishnamoorthi</cp:lastModifiedBy>
  <cp:revision>2</cp:revision>
  <dcterms:created xsi:type="dcterms:W3CDTF">2026-02-26T11:54:21Z</dcterms:created>
  <dcterms:modified xsi:type="dcterms:W3CDTF">2026-02-27T21:58:58Z</dcterms:modified>
</cp:coreProperties>
</file>