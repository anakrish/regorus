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076138030" r:id="rId4"/>
    <p:sldId id="2076138029" r:id="rId2"/>
    <p:sldId id="2076138031" r:id="rId3"/>
    <p:sldId id="2076138032" r:id="rId10"/>
    <p:sldId id="2076138033" r:id="rId11"/>
    <p:sldId id="2076138034" r:id="rId12"/>
  </p:sldIdLst>
  <p:sldSz cx="1219169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97"/>
    <p:restoredTop sz="94639"/>
  </p:normalViewPr>
  <p:slideViewPr>
    <p:cSldViewPr snapToGrid="0">
      <p:cViewPr varScale="1">
        <p:scale>
          <a:sx n="118" d="100"/>
          <a:sy n="118" d="100"/>
        </p:scale>
        <p:origin x="208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F21AE9-7487-44DB-8182-8C11200A3C2D}" type="doc">
      <dgm:prSet loTypeId="urn:microsoft.com/office/officeart/2005/8/layout/bProcess3" loCatId="process" qsTypeId="urn:microsoft.com/office/officeart/2005/8/quickstyle/simple5" qsCatId="simple" csTypeId="urn:microsoft.com/office/officeart/2005/8/colors/accent1_1" csCatId="accent1" phldr="1"/>
      <dgm:spPr/>
    </dgm:pt>
    <dgm:pt modelId="{47FC7ECE-1647-4A61-8C72-F05F5CC59C87}">
      <dgm:prSet phldrT="[Text]"/>
      <dgm:spPr/>
      <dgm:t>
        <a:bodyPr/>
        <a:lstStyle/>
        <a:p>
          <a:r>
            <a:rPr lang="en-US"/>
            <a:t>Investigation</a:t>
          </a:r>
        </a:p>
      </dgm:t>
    </dgm:pt>
    <dgm:pt modelId="{D92BFF8C-7BD9-43E7-8853-AEA4F9F708A2}" type="parTrans" cxnId="{08B8124A-8063-433A-A6FA-403914B33F1B}">
      <dgm:prSet/>
      <dgm:spPr/>
      <dgm:t>
        <a:bodyPr/>
        <a:lstStyle/>
        <a:p>
          <a:endParaRPr lang="en-US"/>
        </a:p>
      </dgm:t>
    </dgm:pt>
    <dgm:pt modelId="{1C3FC9BC-F303-4FFC-9CF7-C466516BA143}" type="sibTrans" cxnId="{08B8124A-8063-433A-A6FA-403914B33F1B}">
      <dgm:prSet/>
      <dgm:spPr/>
      <dgm:t>
        <a:bodyPr/>
        <a:lstStyle/>
        <a:p>
          <a:endParaRPr lang="en-US"/>
        </a:p>
      </dgm:t>
    </dgm:pt>
    <dgm:pt modelId="{84104816-AF99-4AF9-8727-2EBE74E3204E}">
      <dgm:prSet phldrT="[Text]"/>
      <dgm:spPr/>
      <dgm:t>
        <a:bodyPr/>
        <a:lstStyle/>
        <a:p>
          <a:r>
            <a:rPr lang="en-US"/>
            <a:t>Gaps in OPA</a:t>
          </a:r>
        </a:p>
      </dgm:t>
    </dgm:pt>
    <dgm:pt modelId="{5E9BB4EE-C65F-48F1-A805-7E1A25175FCC}" type="parTrans" cxnId="{2F21C438-F1C7-4327-A082-3D49AF4CA6B0}">
      <dgm:prSet/>
      <dgm:spPr/>
      <dgm:t>
        <a:bodyPr/>
        <a:lstStyle/>
        <a:p>
          <a:endParaRPr lang="en-US"/>
        </a:p>
      </dgm:t>
    </dgm:pt>
    <dgm:pt modelId="{07786C0E-57B4-4CF1-86C9-93B8DC82A4A6}" type="sibTrans" cxnId="{2F21C438-F1C7-4327-A082-3D49AF4CA6B0}">
      <dgm:prSet/>
      <dgm:spPr/>
      <dgm:t>
        <a:bodyPr/>
        <a:lstStyle/>
        <a:p>
          <a:endParaRPr lang="en-US"/>
        </a:p>
      </dgm:t>
    </dgm:pt>
    <dgm:pt modelId="{ACF6593F-F1F2-4998-ABBF-A9ED1775D977}">
      <dgm:prSet phldrT="[Text]"/>
      <dgm:spPr/>
      <dgm:t>
        <a:bodyPr/>
        <a:lstStyle/>
        <a:p>
          <a:r>
            <a:rPr lang="en-US"/>
            <a:t>Intermediate Language</a:t>
          </a:r>
        </a:p>
      </dgm:t>
    </dgm:pt>
    <dgm:pt modelId="{39A50188-AA82-4309-87E8-25B1C0233038}" type="parTrans" cxnId="{E87CEAAC-DDE2-46D0-A720-FD6EF8F68978}">
      <dgm:prSet/>
      <dgm:spPr/>
      <dgm:t>
        <a:bodyPr/>
        <a:lstStyle/>
        <a:p>
          <a:endParaRPr lang="en-US"/>
        </a:p>
      </dgm:t>
    </dgm:pt>
    <dgm:pt modelId="{501FC043-0C48-4083-A0F3-B58428D5B738}" type="sibTrans" cxnId="{E87CEAAC-DDE2-46D0-A720-FD6EF8F68978}">
      <dgm:prSet/>
      <dgm:spPr/>
      <dgm:t>
        <a:bodyPr/>
        <a:lstStyle/>
        <a:p>
          <a:endParaRPr lang="en-US"/>
        </a:p>
      </dgm:t>
    </dgm:pt>
    <dgm:pt modelId="{2D885C33-995C-4E64-A6EC-3EDC414134F7}">
      <dgm:prSet phldrT="[Text]"/>
      <dgm:spPr/>
      <dgm:t>
        <a:bodyPr/>
        <a:lstStyle/>
        <a:p>
          <a:r>
            <a:rPr lang="en-US"/>
            <a:t>Green Light (Mark Russ, Brendan Burns)</a:t>
          </a:r>
        </a:p>
      </dgm:t>
    </dgm:pt>
    <dgm:pt modelId="{E00875F4-BF3B-478C-95A7-AE39F7956646}" type="parTrans" cxnId="{BB0D6052-4991-45F9-B0AD-13231258ABE2}">
      <dgm:prSet/>
      <dgm:spPr/>
      <dgm:t>
        <a:bodyPr/>
        <a:lstStyle/>
        <a:p>
          <a:endParaRPr lang="en-US"/>
        </a:p>
      </dgm:t>
    </dgm:pt>
    <dgm:pt modelId="{7A5AB02E-D68B-45D0-86CA-52AD97DBC7C4}" type="sibTrans" cxnId="{BB0D6052-4991-45F9-B0AD-13231258ABE2}">
      <dgm:prSet/>
      <dgm:spPr/>
      <dgm:t>
        <a:bodyPr/>
        <a:lstStyle/>
        <a:p>
          <a:endParaRPr lang="en-US"/>
        </a:p>
      </dgm:t>
    </dgm:pt>
    <dgm:pt modelId="{24E83D29-0ACA-436B-8E3F-67ACABCDDB7A}" type="pres">
      <dgm:prSet presAssocID="{D3F21AE9-7487-44DB-8182-8C11200A3C2D}" presName="Name0" presStyleCnt="0">
        <dgm:presLayoutVars>
          <dgm:dir/>
          <dgm:resizeHandles val="exact"/>
        </dgm:presLayoutVars>
      </dgm:prSet>
      <dgm:spPr/>
    </dgm:pt>
    <dgm:pt modelId="{2528C79C-26EE-4C1F-A834-98412729D8C7}" type="pres">
      <dgm:prSet presAssocID="{47FC7ECE-1647-4A61-8C72-F05F5CC59C87}" presName="node" presStyleLbl="node1" presStyleIdx="0" presStyleCnt="4" custLinFactNeighborX="-62034" custLinFactNeighborY="-1880">
        <dgm:presLayoutVars>
          <dgm:bulletEnabled val="1"/>
        </dgm:presLayoutVars>
      </dgm:prSet>
      <dgm:spPr/>
    </dgm:pt>
    <dgm:pt modelId="{103F68B5-AAB3-47CC-98BA-31695E70B84A}" type="pres">
      <dgm:prSet presAssocID="{1C3FC9BC-F303-4FFC-9CF7-C466516BA143}" presName="sibTrans" presStyleLbl="sibTrans1D1" presStyleIdx="0" presStyleCnt="3"/>
      <dgm:spPr/>
    </dgm:pt>
    <dgm:pt modelId="{BA8477D7-A3FB-4ADB-B447-6D9CB2801A15}" type="pres">
      <dgm:prSet presAssocID="{1C3FC9BC-F303-4FFC-9CF7-C466516BA143}" presName="connectorText" presStyleLbl="sibTrans1D1" presStyleIdx="0" presStyleCnt="3"/>
      <dgm:spPr/>
    </dgm:pt>
    <dgm:pt modelId="{A4B91FAA-3843-4FA9-AE0C-E516692BA55A}" type="pres">
      <dgm:prSet presAssocID="{84104816-AF99-4AF9-8727-2EBE74E3204E}" presName="node" presStyleLbl="node1" presStyleIdx="1" presStyleCnt="4" custLinFactNeighborX="-39398" custLinFactNeighborY="-1880">
        <dgm:presLayoutVars>
          <dgm:bulletEnabled val="1"/>
        </dgm:presLayoutVars>
      </dgm:prSet>
      <dgm:spPr/>
    </dgm:pt>
    <dgm:pt modelId="{6CEEC85A-B552-4C53-AF20-46664EB2C867}" type="pres">
      <dgm:prSet presAssocID="{07786C0E-57B4-4CF1-86C9-93B8DC82A4A6}" presName="sibTrans" presStyleLbl="sibTrans1D1" presStyleIdx="1" presStyleCnt="3"/>
      <dgm:spPr/>
    </dgm:pt>
    <dgm:pt modelId="{7F7F1450-126E-4D00-897B-2732F9B2D450}" type="pres">
      <dgm:prSet presAssocID="{07786C0E-57B4-4CF1-86C9-93B8DC82A4A6}" presName="connectorText" presStyleLbl="sibTrans1D1" presStyleIdx="1" presStyleCnt="3"/>
      <dgm:spPr/>
    </dgm:pt>
    <dgm:pt modelId="{7C681A02-4F65-4016-B1AA-B73352B7B8C8}" type="pres">
      <dgm:prSet presAssocID="{ACF6593F-F1F2-4998-ABBF-A9ED1775D977}" presName="node" presStyleLbl="node1" presStyleIdx="2" presStyleCnt="4" custLinFactNeighborX="55595" custLinFactNeighborY="4316">
        <dgm:presLayoutVars>
          <dgm:bulletEnabled val="1"/>
        </dgm:presLayoutVars>
      </dgm:prSet>
      <dgm:spPr/>
    </dgm:pt>
    <dgm:pt modelId="{1D279C5A-5749-4BBF-B9EF-5972FA8DDE07}" type="pres">
      <dgm:prSet presAssocID="{501FC043-0C48-4083-A0F3-B58428D5B738}" presName="sibTrans" presStyleLbl="sibTrans1D1" presStyleIdx="2" presStyleCnt="3"/>
      <dgm:spPr/>
    </dgm:pt>
    <dgm:pt modelId="{9E836AA7-3CF3-4B44-9D0D-250BAFC4F650}" type="pres">
      <dgm:prSet presAssocID="{501FC043-0C48-4083-A0F3-B58428D5B738}" presName="connectorText" presStyleLbl="sibTrans1D1" presStyleIdx="2" presStyleCnt="3"/>
      <dgm:spPr/>
    </dgm:pt>
    <dgm:pt modelId="{DC55D360-BFDE-44FA-B118-B894BB09ADB2}" type="pres">
      <dgm:prSet presAssocID="{2D885C33-995C-4E64-A6EC-3EDC414134F7}" presName="node" presStyleLbl="node1" presStyleIdx="3" presStyleCnt="4" custLinFactNeighborX="62972" custLinFactNeighborY="-7310">
        <dgm:presLayoutVars>
          <dgm:bulletEnabled val="1"/>
        </dgm:presLayoutVars>
      </dgm:prSet>
      <dgm:spPr/>
    </dgm:pt>
  </dgm:ptLst>
  <dgm:cxnLst>
    <dgm:cxn modelId="{2F21C438-F1C7-4327-A082-3D49AF4CA6B0}" srcId="{D3F21AE9-7487-44DB-8182-8C11200A3C2D}" destId="{84104816-AF99-4AF9-8727-2EBE74E3204E}" srcOrd="1" destOrd="0" parTransId="{5E9BB4EE-C65F-48F1-A805-7E1A25175FCC}" sibTransId="{07786C0E-57B4-4CF1-86C9-93B8DC82A4A6}"/>
    <dgm:cxn modelId="{5845F43E-BCD3-4AFB-93E0-B4ED0FE2EBDE}" type="presOf" srcId="{07786C0E-57B4-4CF1-86C9-93B8DC82A4A6}" destId="{6CEEC85A-B552-4C53-AF20-46664EB2C867}" srcOrd="0" destOrd="0" presId="urn:microsoft.com/office/officeart/2005/8/layout/bProcess3"/>
    <dgm:cxn modelId="{08B8124A-8063-433A-A6FA-403914B33F1B}" srcId="{D3F21AE9-7487-44DB-8182-8C11200A3C2D}" destId="{47FC7ECE-1647-4A61-8C72-F05F5CC59C87}" srcOrd="0" destOrd="0" parTransId="{D92BFF8C-7BD9-43E7-8853-AEA4F9F708A2}" sibTransId="{1C3FC9BC-F303-4FFC-9CF7-C466516BA143}"/>
    <dgm:cxn modelId="{BB0D6052-4991-45F9-B0AD-13231258ABE2}" srcId="{D3F21AE9-7487-44DB-8182-8C11200A3C2D}" destId="{2D885C33-995C-4E64-A6EC-3EDC414134F7}" srcOrd="3" destOrd="0" parTransId="{E00875F4-BF3B-478C-95A7-AE39F7956646}" sibTransId="{7A5AB02E-D68B-45D0-86CA-52AD97DBC7C4}"/>
    <dgm:cxn modelId="{9BF45766-13EB-4C01-80A4-34DCA4C04D62}" type="presOf" srcId="{1C3FC9BC-F303-4FFC-9CF7-C466516BA143}" destId="{103F68B5-AAB3-47CC-98BA-31695E70B84A}" srcOrd="0" destOrd="0" presId="urn:microsoft.com/office/officeart/2005/8/layout/bProcess3"/>
    <dgm:cxn modelId="{4F25567C-6220-4541-A554-95C936F53072}" type="presOf" srcId="{47FC7ECE-1647-4A61-8C72-F05F5CC59C87}" destId="{2528C79C-26EE-4C1F-A834-98412729D8C7}" srcOrd="0" destOrd="0" presId="urn:microsoft.com/office/officeart/2005/8/layout/bProcess3"/>
    <dgm:cxn modelId="{9BB3EE80-03FC-4AD2-AB16-B71A20604CBC}" type="presOf" srcId="{84104816-AF99-4AF9-8727-2EBE74E3204E}" destId="{A4B91FAA-3843-4FA9-AE0C-E516692BA55A}" srcOrd="0" destOrd="0" presId="urn:microsoft.com/office/officeart/2005/8/layout/bProcess3"/>
    <dgm:cxn modelId="{10613B81-1996-45DD-A272-94974307B9BE}" type="presOf" srcId="{501FC043-0C48-4083-A0F3-B58428D5B738}" destId="{9E836AA7-3CF3-4B44-9D0D-250BAFC4F650}" srcOrd="1" destOrd="0" presId="urn:microsoft.com/office/officeart/2005/8/layout/bProcess3"/>
    <dgm:cxn modelId="{1FA83898-CB79-4D45-899A-1A8D19E83F06}" type="presOf" srcId="{2D885C33-995C-4E64-A6EC-3EDC414134F7}" destId="{DC55D360-BFDE-44FA-B118-B894BB09ADB2}" srcOrd="0" destOrd="0" presId="urn:microsoft.com/office/officeart/2005/8/layout/bProcess3"/>
    <dgm:cxn modelId="{E87CEAAC-DDE2-46D0-A720-FD6EF8F68978}" srcId="{D3F21AE9-7487-44DB-8182-8C11200A3C2D}" destId="{ACF6593F-F1F2-4998-ABBF-A9ED1775D977}" srcOrd="2" destOrd="0" parTransId="{39A50188-AA82-4309-87E8-25B1C0233038}" sibTransId="{501FC043-0C48-4083-A0F3-B58428D5B738}"/>
    <dgm:cxn modelId="{965E21C7-1BBC-4E42-8A72-C1DEC5898B63}" type="presOf" srcId="{ACF6593F-F1F2-4998-ABBF-A9ED1775D977}" destId="{7C681A02-4F65-4016-B1AA-B73352B7B8C8}" srcOrd="0" destOrd="0" presId="urn:microsoft.com/office/officeart/2005/8/layout/bProcess3"/>
    <dgm:cxn modelId="{04BF1FDD-8B45-486C-95A3-6F4A5134ABC6}" type="presOf" srcId="{07786C0E-57B4-4CF1-86C9-93B8DC82A4A6}" destId="{7F7F1450-126E-4D00-897B-2732F9B2D450}" srcOrd="1" destOrd="0" presId="urn:microsoft.com/office/officeart/2005/8/layout/bProcess3"/>
    <dgm:cxn modelId="{EF371BE9-87CE-4357-ACC1-2146612E6E6B}" type="presOf" srcId="{501FC043-0C48-4083-A0F3-B58428D5B738}" destId="{1D279C5A-5749-4BBF-B9EF-5972FA8DDE07}" srcOrd="0" destOrd="0" presId="urn:microsoft.com/office/officeart/2005/8/layout/bProcess3"/>
    <dgm:cxn modelId="{1EFFDDEA-EB6A-4CC6-8D74-93FE493B2D59}" type="presOf" srcId="{1C3FC9BC-F303-4FFC-9CF7-C466516BA143}" destId="{BA8477D7-A3FB-4ADB-B447-6D9CB2801A15}" srcOrd="1" destOrd="0" presId="urn:microsoft.com/office/officeart/2005/8/layout/bProcess3"/>
    <dgm:cxn modelId="{CD8BD3F6-4999-4D17-ABB3-80C64DB9538E}" type="presOf" srcId="{D3F21AE9-7487-44DB-8182-8C11200A3C2D}" destId="{24E83D29-0ACA-436B-8E3F-67ACABCDDB7A}" srcOrd="0" destOrd="0" presId="urn:microsoft.com/office/officeart/2005/8/layout/bProcess3"/>
    <dgm:cxn modelId="{A3553632-4C9A-4907-8607-6A3308D04EFC}" type="presParOf" srcId="{24E83D29-0ACA-436B-8E3F-67ACABCDDB7A}" destId="{2528C79C-26EE-4C1F-A834-98412729D8C7}" srcOrd="0" destOrd="0" presId="urn:microsoft.com/office/officeart/2005/8/layout/bProcess3"/>
    <dgm:cxn modelId="{FC3E76E0-2496-495B-BBB8-98669ACAE1C5}" type="presParOf" srcId="{24E83D29-0ACA-436B-8E3F-67ACABCDDB7A}" destId="{103F68B5-AAB3-47CC-98BA-31695E70B84A}" srcOrd="1" destOrd="0" presId="urn:microsoft.com/office/officeart/2005/8/layout/bProcess3"/>
    <dgm:cxn modelId="{406C867D-8963-4217-BC73-4E36DAAAFC1C}" type="presParOf" srcId="{103F68B5-AAB3-47CC-98BA-31695E70B84A}" destId="{BA8477D7-A3FB-4ADB-B447-6D9CB2801A15}" srcOrd="0" destOrd="0" presId="urn:microsoft.com/office/officeart/2005/8/layout/bProcess3"/>
    <dgm:cxn modelId="{31AB7392-D24C-4CDE-AC63-0089AEBFF5F0}" type="presParOf" srcId="{24E83D29-0ACA-436B-8E3F-67ACABCDDB7A}" destId="{A4B91FAA-3843-4FA9-AE0C-E516692BA55A}" srcOrd="2" destOrd="0" presId="urn:microsoft.com/office/officeart/2005/8/layout/bProcess3"/>
    <dgm:cxn modelId="{C9A2A92F-ECAF-4C5C-8816-F9F856D3B070}" type="presParOf" srcId="{24E83D29-0ACA-436B-8E3F-67ACABCDDB7A}" destId="{6CEEC85A-B552-4C53-AF20-46664EB2C867}" srcOrd="3" destOrd="0" presId="urn:microsoft.com/office/officeart/2005/8/layout/bProcess3"/>
    <dgm:cxn modelId="{BECDCEEE-9AA4-4F25-80BE-A0603583687E}" type="presParOf" srcId="{6CEEC85A-B552-4C53-AF20-46664EB2C867}" destId="{7F7F1450-126E-4D00-897B-2732F9B2D450}" srcOrd="0" destOrd="0" presId="urn:microsoft.com/office/officeart/2005/8/layout/bProcess3"/>
    <dgm:cxn modelId="{DA4D02F4-67EF-452D-84D0-3BDFFE52B4DD}" type="presParOf" srcId="{24E83D29-0ACA-436B-8E3F-67ACABCDDB7A}" destId="{7C681A02-4F65-4016-B1AA-B73352B7B8C8}" srcOrd="4" destOrd="0" presId="urn:microsoft.com/office/officeart/2005/8/layout/bProcess3"/>
    <dgm:cxn modelId="{B8C27607-85CD-4E77-9937-B52E94F5008A}" type="presParOf" srcId="{24E83D29-0ACA-436B-8E3F-67ACABCDDB7A}" destId="{1D279C5A-5749-4BBF-B9EF-5972FA8DDE07}" srcOrd="5" destOrd="0" presId="urn:microsoft.com/office/officeart/2005/8/layout/bProcess3"/>
    <dgm:cxn modelId="{5E0CF679-7DF7-429F-88F4-8D460575EC40}" type="presParOf" srcId="{1D279C5A-5749-4BBF-B9EF-5972FA8DDE07}" destId="{9E836AA7-3CF3-4B44-9D0D-250BAFC4F650}" srcOrd="0" destOrd="0" presId="urn:microsoft.com/office/officeart/2005/8/layout/bProcess3"/>
    <dgm:cxn modelId="{0F8EED34-7180-4B61-9BD1-0EC0F0CF4688}" type="presParOf" srcId="{24E83D29-0ACA-436B-8E3F-67ACABCDDB7A}" destId="{DC55D360-BFDE-44FA-B118-B894BB09ADB2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F68B5-AAB3-47CC-98BA-31695E70B84A}">
      <dsp:nvSpPr>
        <dsp:cNvPr id="0" name=""/>
        <dsp:cNvSpPr/>
      </dsp:nvSpPr>
      <dsp:spPr>
        <a:xfrm>
          <a:off x="1922609" y="459640"/>
          <a:ext cx="73815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38153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72467" y="503422"/>
        <a:ext cx="38437" cy="3874"/>
      </dsp:txXfrm>
    </dsp:sp>
    <dsp:sp modelId="{2528C79C-26EE-4C1F-A834-98412729D8C7}">
      <dsp:nvSpPr>
        <dsp:cNvPr id="0" name=""/>
        <dsp:cNvSpPr/>
      </dsp:nvSpPr>
      <dsp:spPr>
        <a:xfrm>
          <a:off x="239875" y="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Investigation</a:t>
          </a:r>
        </a:p>
      </dsp:txBody>
      <dsp:txXfrm>
        <a:off x="239875" y="0"/>
        <a:ext cx="1684533" cy="1010720"/>
      </dsp:txXfrm>
    </dsp:sp>
    <dsp:sp modelId="{6CEEC85A-B552-4C53-AF20-46664EB2C867}">
      <dsp:nvSpPr>
        <dsp:cNvPr id="0" name=""/>
        <dsp:cNvSpPr/>
      </dsp:nvSpPr>
      <dsp:spPr>
        <a:xfrm>
          <a:off x="4375897" y="459640"/>
          <a:ext cx="195703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95616" y="45720"/>
              </a:lnTo>
              <a:lnTo>
                <a:pt x="995616" y="46970"/>
              </a:lnTo>
              <a:lnTo>
                <a:pt x="1957032" y="4697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04722" y="503422"/>
        <a:ext cx="99381" cy="3874"/>
      </dsp:txXfrm>
    </dsp:sp>
    <dsp:sp modelId="{A4B91FAA-3843-4FA9-AE0C-E516692BA55A}">
      <dsp:nvSpPr>
        <dsp:cNvPr id="0" name=""/>
        <dsp:cNvSpPr/>
      </dsp:nvSpPr>
      <dsp:spPr>
        <a:xfrm>
          <a:off x="2693163" y="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Gaps in OPA</a:t>
          </a:r>
        </a:p>
      </dsp:txBody>
      <dsp:txXfrm>
        <a:off x="2693163" y="0"/>
        <a:ext cx="1684533" cy="1010720"/>
      </dsp:txXfrm>
    </dsp:sp>
    <dsp:sp modelId="{1D279C5A-5749-4BBF-B9EF-5972FA8DDE07}">
      <dsp:nvSpPr>
        <dsp:cNvPr id="0" name=""/>
        <dsp:cNvSpPr/>
      </dsp:nvSpPr>
      <dsp:spPr>
        <a:xfrm>
          <a:off x="8048063" y="459640"/>
          <a:ext cx="4811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6970"/>
              </a:moveTo>
              <a:lnTo>
                <a:pt x="257655" y="46970"/>
              </a:lnTo>
              <a:lnTo>
                <a:pt x="257655" y="45720"/>
              </a:lnTo>
              <a:lnTo>
                <a:pt x="481110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75825" y="503422"/>
        <a:ext cx="25585" cy="3874"/>
      </dsp:txXfrm>
    </dsp:sp>
    <dsp:sp modelId="{7C681A02-4F65-4016-B1AA-B73352B7B8C8}">
      <dsp:nvSpPr>
        <dsp:cNvPr id="0" name=""/>
        <dsp:cNvSpPr/>
      </dsp:nvSpPr>
      <dsp:spPr>
        <a:xfrm>
          <a:off x="6365329" y="125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Intermediate Language</a:t>
          </a:r>
        </a:p>
      </dsp:txBody>
      <dsp:txXfrm>
        <a:off x="6365329" y="1250"/>
        <a:ext cx="1684533" cy="1010720"/>
      </dsp:txXfrm>
    </dsp:sp>
    <dsp:sp modelId="{DC55D360-BFDE-44FA-B118-B894BB09ADB2}">
      <dsp:nvSpPr>
        <dsp:cNvPr id="0" name=""/>
        <dsp:cNvSpPr/>
      </dsp:nvSpPr>
      <dsp:spPr>
        <a:xfrm>
          <a:off x="8561574" y="0"/>
          <a:ext cx="1684533" cy="1010720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Green Light (Mark Russ, Brendan Burns)</a:t>
          </a:r>
        </a:p>
      </dsp:txBody>
      <dsp:txXfrm>
        <a:off x="8561574" y="0"/>
        <a:ext cx="1684533" cy="1010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1F1F5-42C9-B04A-9841-D260DA0D365C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05329-199B-504B-9123-A42B767244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47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quicker</a:t>
            </a:r>
          </a:p>
          <a:p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How we started focusing on this (CTO suggestion to align on a policy engine – OPA)</a:t>
            </a:r>
          </a:p>
          <a:p>
            <a:pPr marL="171450" indent="-171450">
              <a:buFontTx/>
              <a:buChar char="-"/>
            </a:pPr>
            <a:r>
              <a:rPr lang="en-US"/>
              <a:t>Issues with OPA</a:t>
            </a:r>
          </a:p>
          <a:p>
            <a:pPr marL="171450" indent="-171450">
              <a:buFontTx/>
              <a:buChar char="-"/>
            </a:pPr>
            <a:r>
              <a:rPr lang="en-US"/>
              <a:t>Our solution: standardize on a common policy engine &amp; framework, with flexibility when it comes to the interface language</a:t>
            </a:r>
          </a:p>
          <a:p>
            <a:pPr marL="171450" indent="-171450">
              <a:buFontTx/>
              <a:buChar char="-"/>
            </a:pPr>
            <a:r>
              <a:rPr lang="en-US"/>
              <a:t>Green light from Mark Russ, </a:t>
            </a:r>
            <a:r>
              <a:rPr lang="en-US" err="1"/>
              <a:t>BBurns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B2AD2D-CD4E-42C3-AFE6-D8B46A6887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40763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EDFF-989E-6024-5AAD-F6298CA7D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AB9F3-977D-FBC2-DBFB-28B47C759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3456E-4E15-AC38-38A1-2567E46E8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AF065-2CFF-8844-33CF-B869490D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34FBD-E46A-EC6D-627C-886A4CE13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81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6DCC-3FE3-7508-163F-93DCE9531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3E993-0BE5-8912-4E53-D8F72EC65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C0667-5875-115F-2D30-2CED7457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5D425-66E0-47E8-8744-DF806BCBF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B26BA-55AA-CC5D-C47C-B7A19AB0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6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8853-C2EA-C1BF-CEFD-A5B4B86A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679B4-F3F2-37BC-F697-5E1A75B59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AF9C7-0FAC-400C-F1BE-F58B10CB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8A12D-8299-D600-C03A-CBC409351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5C042-14A1-3FF0-3633-4316CFA2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3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F8BF-ECCA-8BAB-8069-CAE38F284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D13BE-BF7C-2883-C832-D0CD0A101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05EE5-6DD3-AA51-07A7-FB7B6042F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1B762-D5C9-9CB3-7C2F-0F366148F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390FC-D465-BA28-E0D7-062D42C3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FBFF3C-2FB8-C672-245C-6772828E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4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BA552-14CD-D00C-8E17-BA85EC28E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D1E51-3AD0-FC8A-A13B-A99B224AB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54121-6B69-5D03-EC22-B5A6EDEDC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50955D-C373-0453-03B8-19A9DBA90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CE9481-0AAD-AD44-4A15-37DB270E83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D01FB-D97C-35A7-5EFC-8805907C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111FEF-E952-E889-527A-356762D75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52E413-5F23-8F7B-2CFC-9F775FD2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41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CFF8-3B43-E32F-026C-A83EB9DA8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91A97-0B33-DFB3-632C-D89D2C028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FDFAE-FE4E-90D1-8562-EFC41F21F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AB5D8-05AE-5130-4F32-FBF2F9DC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4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E972F2-7A8E-C1DF-B6AE-07E85A2D1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0B4343-889C-4228-704F-3CB8F9B0E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7F066-E000-173A-9C04-E96B93B1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62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F087B-4FA9-0471-6D20-F2A61C9F8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A05EF-BEAF-29E9-8959-83A6B3DE6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0190D-BA8F-0C7B-C5E0-5F8068ED9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848D8-4D0F-136A-A2AB-360A54AF1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E2D1C-8E67-3A1E-272E-DB72D050F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8FE73-849A-EC3E-62F4-BD4ED04F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05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8B6D-D8E1-44B2-76AB-195E3E9C5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6DE755-AF4D-5BBD-0EBF-AEE1FB4E1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11A6C-F23D-D224-9EF0-B5298A744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B0701-8A35-D6AB-18DF-30EC05425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9E462-F3D7-5E10-7A7E-4CF46DAB0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DC74B-8A40-1B00-D490-C5F87FC6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1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0BC7-A77C-540D-744D-77CB295B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EDEFB-ECB0-8A5A-4A6D-A970BB543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DA30F-1B8F-5F4A-0206-64299AF2A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0D49F-8A8F-5DB4-0B62-12284A680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001BF-8737-38BA-F306-5CB45A51B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39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B5304-D850-DB29-694A-DFE86A5AE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4A4F4-DB46-F882-E03C-EBE0E61F4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8F9D3-1373-5177-F887-05161E138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444B4-88CD-6229-4E32-B2EB8E187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2B145-5ADB-D520-BFB1-3F215882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3511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97F82C-49E2-7300-B159-99902537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8BBDD-CDF8-0F60-9154-05F51CD8E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AE446-637F-F39E-D9EE-1102B5F58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002F7-11D9-7F47-B90E-7CAF4A3265D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E300F-DD2E-C708-2C73-FA185991C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007BF-34CF-872E-2128-9455F13796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2BEEB-55DE-F346-857B-0D3F2ABF0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6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diagramData" Target="../diagrams/data1.xml"/><Relationship Id="rId6" Type="http://schemas.openxmlformats.org/officeDocument/2006/relationships/diagramLayout" Target="../diagrams/layout1.xml"/><Relationship Id="rId7" Type="http://schemas.openxmlformats.org/officeDocument/2006/relationships/diagramQuickStyle" Target="../diagrams/quickStyle1.xml"/><Relationship Id="rId8" Type="http://schemas.openxmlformats.org/officeDocument/2006/relationships/diagramColors" Target="../diagrams/colors1.xml"/><Relationship Id="rId9" Type="http://schemas.microsoft.com/office/2007/relationships/diagramDrawing" Target="../diagrams/drawing1.xml"/><Relationship Id="rId10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microsoft/regorus" TargetMode="External"/><Relationship Id="rId3" Type="http://schemas.openxmlformats.org/officeDocument/2006/relationships/hyperlink" Target="https://anakrish.github.io/rego-virtual-machine-playground/" TargetMode="External"/><Relationship Id="rId4" Type="http://schemas.openxmlformats.org/officeDocument/2006/relationships/hyperlink" Target="https://anakrish.github.io/rvm-policy-analysis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anakrish.github.io/rego-virtual-machine-playground/" TargetMode="External"/><Relationship Id="rId3" Type="http://schemas.openxmlformats.org/officeDocument/2006/relationships/hyperlink" Target="https://anakrish.github.io/rvm-policy-analysis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B25E84-73F2-7A9F-4118-DDD2114CD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843" y="3897388"/>
            <a:ext cx="3684311" cy="277244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648EDC-51FD-91B9-8D38-88DF9A3F8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910" y="384971"/>
            <a:ext cx="5729129" cy="1933581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B94534B-B0BF-F334-3816-DC74644B70E8}"/>
              </a:ext>
            </a:extLst>
          </p:cNvPr>
          <p:cNvGraphicFramePr/>
          <p:nvPr/>
        </p:nvGraphicFramePr>
        <p:xfrm>
          <a:off x="926511" y="2575379"/>
          <a:ext cx="10470183" cy="1011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63C60FB-303A-989C-2B91-3E04C0EB55E5}"/>
              </a:ext>
            </a:extLst>
          </p:cNvPr>
          <p:cNvSpPr/>
          <p:nvPr/>
        </p:nvSpPr>
        <p:spPr>
          <a:xfrm>
            <a:off x="-195" y="5076950"/>
            <a:ext cx="169185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22225">
                  <a:solidFill>
                    <a:srgbClr val="E97132"/>
                  </a:solidFill>
                  <a:prstDash val="solid"/>
                </a:ln>
                <a:solidFill>
                  <a:srgbClr val="E97132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Scalability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76B142-7E6B-F98F-A4DF-DE4A5D5D2966}"/>
              </a:ext>
            </a:extLst>
          </p:cNvPr>
          <p:cNvSpPr/>
          <p:nvPr/>
        </p:nvSpPr>
        <p:spPr>
          <a:xfrm>
            <a:off x="-195" y="4050823"/>
            <a:ext cx="1691857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22225">
                  <a:solidFill>
                    <a:srgbClr val="E97132"/>
                  </a:solidFill>
                  <a:prstDash val="solid"/>
                </a:ln>
                <a:solidFill>
                  <a:srgbClr val="E97132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 Tenancy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4AC473C-9743-1226-BBF9-DAB867587403}"/>
              </a:ext>
            </a:extLst>
          </p:cNvPr>
          <p:cNvSpPr/>
          <p:nvPr/>
        </p:nvSpPr>
        <p:spPr>
          <a:xfrm>
            <a:off x="-195" y="5980735"/>
            <a:ext cx="169185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 w="22225">
                  <a:solidFill>
                    <a:srgbClr val="E97132"/>
                  </a:solidFill>
                  <a:prstDash val="solid"/>
                </a:ln>
                <a:solidFill>
                  <a:srgbClr val="E97132">
                    <a:lumMod val="40000"/>
                    <a:lumOff val="6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Lifecycle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812098-2401-977F-C159-367EF80B7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225" y="74933"/>
            <a:ext cx="11485009" cy="55599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/>
              <a:t>Background: Azure CTO Memo: “How to Policy”/OPA</a:t>
            </a:r>
          </a:p>
        </p:txBody>
      </p:sp>
      <p:pic>
        <p:nvPicPr>
          <p:cNvPr id="6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45986419-691B-CA6B-5075-66977174AA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147" y="3844177"/>
            <a:ext cx="4719547" cy="28999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94477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A1A1A"/>
                </a:solidFill>
              </a:rPr>
              <a:t>Policy Analysis for Rego, Cedar, and Azure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606060"/>
                </a:solidFill>
              </a:rPr>
              <a:t>Formal Verification via Bytecode-Level Z3 Encoding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809847" y="3017520"/>
            <a:ext cx="4572000" cy="2743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A2A2A"/>
                </a:solidFill>
              </a:rPr>
              <a:t>Anand Krishnamoorthi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06060"/>
                </a:solidFill>
              </a:rPr>
              <a:t>Azure Policy Team  ·  Microsoft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MSR Verification Workshop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34847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u="sng">
                <a:solidFill>
                  <a:srgbClr val="0078D4"/>
                </a:solidFill>
                <a:hlinkClick r:id="rId2"/>
              </a:rPr>
              <a:t>github.com/microsoft/regorus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738" y="5029200"/>
            <a:ext cx="34847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u="sng">
                <a:solidFill>
                  <a:srgbClr val="0078D4"/>
                </a:solidFill>
                <a:hlinkClick r:id="rId3"/>
              </a:rPr>
              <a:t>RVM Playground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75396" y="5029200"/>
            <a:ext cx="348477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u="sng">
                <a:solidFill>
                  <a:srgbClr val="0078D4"/>
                </a:solidFill>
                <a:hlinkClick r:id="rId4"/>
              </a:rPr>
              <a:t>RVM Policy Analysis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</a:rPr>
              <a:t>The RVM: One Bytecode, Multiple Languages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103120" cy="5943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0D47A1"/>
                </a:solidFill>
              </a:rPr>
              <a:t>Rego (OPA)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103120" cy="59436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00695C"/>
                </a:solidFill>
              </a:rPr>
              <a:t>Cedar (Amazon)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103120" cy="59436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4A148C"/>
                </a:solidFill>
              </a:rPr>
              <a:t>Azure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39" y="11887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39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26517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06060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097280"/>
            <a:ext cx="1645920" cy="2057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2A2A2A"/>
                </a:solidFill>
              </a:rPr>
              <a:t>Per-Language
Compilers
AST → register
bytecode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87451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097280"/>
            <a:ext cx="2286000" cy="20574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0">
                <a:solidFill>
                  <a:srgbClr val="2A2A2A"/>
                </a:solidFill>
              </a:rPr>
              <a:t>RVM Bytecode
Register-based IR
Untyped values
Structured guards
Explicit control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148C"/>
                </a:solidFill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097280"/>
            <a:ext cx="2011680" cy="9144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1B5E20"/>
                </a:solidFill>
              </a:rPr>
              <a:t>Evaluate
Fast execution engine
(production use)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5E20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0" y="1097280"/>
            <a:ext cx="146304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2A2A2A"/>
                </a:solidFill>
              </a:rPr>
              <a:t>allow / deny
audit / 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2286000"/>
            <a:ext cx="2011680" cy="9144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0">
                <a:solidFill>
                  <a:srgbClr val="4A148C"/>
                </a:solidFill>
              </a:rPr>
              <a:t>Analyze (Z3)
Symbolic execution
∀-input proofs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A148C"/>
                </a:solidFill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0" y="2286000"/>
            <a:ext cx="1463040" cy="9144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200" b="1">
                <a:solidFill>
                  <a:srgbClr val="2A2A2A"/>
                </a:solidFill>
              </a:rPr>
              <a:t>proofs / tests
diffs / coverage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29000"/>
            <a:ext cx="10728655" cy="457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400" b="0">
                <a:solidFill>
                  <a:srgbClr val="0D47A1"/>
                </a:solidFill>
              </a:rPr>
              <a:t>Compile once, then both run and analyze the same bytecode. Works for Rego, Cedar, and Azure Policy without separate toolchains.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A2A2A"/>
                </a:solidFill>
              </a:rPr>
              <a:t>RVM properties that enable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262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</a:rPr>
              <a:t>Register-based (not stack)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526280"/>
            <a:ext cx="7619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Named registers map directly to Z3 variables — no stack simulation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855464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</a:rPr>
              <a:t>Structured guards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855464"/>
            <a:ext cx="7619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AllOfGuard / AnyOfGuard → Z3 And/Or with short-circuit semantics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18464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</a:rPr>
              <a:t>Untyped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184648"/>
            <a:ext cx="7619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Values carry dynamic type tags — modeled as Z3 algebraic datatypes (String | Number | Bool | Set | Object | Undefined)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51383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</a:rPr>
              <a:t>Explicit control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513832"/>
            <a:ext cx="761969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No exceptions, no hidden branches — complete symbolic execution is tractable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</a:rPr>
              <a:t>Why Formal Analysis?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5090007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</a:rPr>
              <a:t>Billions of policy evaluations/day across Azure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</a:rPr>
              <a:t>1400+ built-in Azure Policy definitions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</a:rPr>
              <a:t>Rego/OPA is the de facto standard for K8s,
service mesh, IAM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</a:rPr>
              <a:t>Every policy change is a regression risk
at cloud scale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2A2A2A"/>
                </a:solidFill>
              </a:rPr>
              <a:t>LLMs are starting to author policies —
faster than humans can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005840"/>
            <a:ext cx="51814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</a:rPr>
              <a:t>What we do today (and why it’s not enough)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167" y="1371600"/>
            <a:ext cx="50900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</a:rPr>
              <a:t>Manual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572768"/>
            <a:ext cx="49985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Hand-written; miss edge cases by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1965960"/>
            <a:ext cx="50900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</a:rPr>
              <a:t>Code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2167128"/>
            <a:ext cx="49985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Can’t enumerate all input combinations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560320"/>
            <a:ext cx="50900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62828"/>
                </a:solidFill>
              </a:rPr>
              <a:t>Shadow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761488"/>
            <a:ext cx="49985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Needs production traffic, takes weeks,
only covers inputs that actually happen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728655" cy="457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/>
            <a:r>
              <a:rPr sz="1700" b="1">
                <a:solidFill>
                  <a:srgbClr val="2A2A2A"/>
                </a:solidFill>
              </a:rPr>
              <a:t>Can we get mathematical guarantees — not for a few test inputs, but for all possible inputs?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47A1"/>
                </a:solidFill>
              </a:rPr>
              <a:t>What we can answer with Z3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20542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Property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29200"/>
            <a:ext cx="2054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</a:rPr>
              <a:t>“No input bypasses this deny.”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2971" y="4846320"/>
            <a:ext cx="20542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Equivalence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2971" y="5029200"/>
            <a:ext cx="2054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</a:rPr>
              <a:t>“Does v2 behave the same as v1?”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8702" y="4846320"/>
            <a:ext cx="20542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Subsumption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8702" y="5029200"/>
            <a:ext cx="2054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</a:rPr>
              <a:t>“Is the new policy at least as restrictive?”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14433" y="4846320"/>
            <a:ext cx="20542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Test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4433" y="5029200"/>
            <a:ext cx="2054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</a:rPr>
              <a:t>Minimal inputs covering all paths + MC/DC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0164" y="4846320"/>
            <a:ext cx="205429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47A1"/>
                </a:solidFill>
              </a:rPr>
              <a:t>Gap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0164" y="5029200"/>
            <a:ext cx="20542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06060"/>
                </a:solidFill>
              </a:rPr>
              <a:t>Inputs where no rule matches (silent fail-open)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1A1A1A"/>
                </a:solidFill>
              </a:rP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3352647" y="1371600"/>
            <a:ext cx="5486400" cy="2743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118872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D8D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①  RVM Playground — Multi-Language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06060"/>
                </a:solidFill>
              </a:rPr>
              <a:t>Quick look: compile Rego, Cedar, and Azure Policy to the same RVM bytecode, step through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101800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u="sng">
                <a:solidFill>
                  <a:srgbClr val="0078D4"/>
                </a:solidFill>
                <a:hlinkClick r:id="rId2"/>
              </a:rPr>
              <a:t>anakrish.github.io/rego-virtual-machine-playground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728655" cy="25603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D47A1"/>
                </a:solidFill>
              </a:rPr>
              <a:t>②  RVM Policy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2A2A"/>
                </a:solidFill>
              </a:rPr>
              <a:t>Semantic diff, subsumption, test generation (MC/DC), property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148C"/>
                </a:solidFill>
              </a:rPr>
              <a:t>~10K lines of Rust (RVM bytecode → Z3), entirely written with Copilot (Claude Opus). 3rd time lucky.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1800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u="sng">
                <a:solidFill>
                  <a:srgbClr val="0078D4"/>
                </a:solidFill>
                <a:hlinkClick r:id="rId3"/>
              </a:rPr>
              <a:t>▶  anakrish.github.io/rvm-policy-analysis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1A"/>
                </a:solidFill>
              </a:rPr>
              <a:t>Road Ahead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777240"/>
            <a:ext cx="10728655" cy="27432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0728655" cy="82296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05840"/>
            <a:ext cx="104543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F6C00"/>
                </a:solidFill>
              </a:rPr>
              <a:t>AWS has ~8 years of production formal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61872"/>
            <a:ext cx="104543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A2A"/>
                </a:solidFill>
              </a:rPr>
              <a:t>Zelkova (2017) → IAM Access Analyzer → Cedar + Verified Permissions. ~1B SMT queries/day. Named enterprise customers. "Provable Security" brand.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0728655" cy="10058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45433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5E20"/>
                </a:solidFill>
              </a:rPr>
              <a:t>The hard problem: formal analysis of Rego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04543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</a:rPr>
              <a:t>Cedar was purpose-built for analysis: no loops, no user-defined functions, no partial rules. Rego has all of those.
Encoding Rego’s expressiveness into Z3 (bounded loop unrolling, function inlining, partial rule aggregation) is a
genuinely difficult translation problem. Rego/OPA remains the dominant policy language in the Kubernetes ecosystem.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47A1"/>
                </a:solidFill>
              </a:rPr>
              <a:t>Ideas for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Productize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657600"/>
            <a:ext cx="8534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Prototype (CLI, feature branch) → production service. Performance, reliability, documentation.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9651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CI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096512"/>
            <a:ext cx="8534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Formal diff on policy PRs. Equivalent → auto-approve. Wider access → review with counterexample.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3542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AI verification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535424"/>
            <a:ext cx="8534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LLM generates policy → Z3 verifies or returns counterexample → LLM revises → iterate. Exploratory.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74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974336"/>
            <a:ext cx="8534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Compositional analysis for large policy sets. Avoiding full enumeration over deep nesting and comprehensions.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132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Publication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413248"/>
            <a:ext cx="8534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The RVM-to-Z3 translation and the multi-language bytecode design are candidates for a formal methods venue.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52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47A1"/>
                </a:solidFill>
              </a:rPr>
              <a:t>Verified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852160"/>
            <a:ext cx="85340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6060"/>
                </a:solidFill>
              </a:rPr>
              <a:t>Formal verification of the RVM implementation itself using Verus. Two layers of trust: verified policies on a verified engine.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</a:rPr>
              <a:t>Questions and feedback welcome  —  github.com/microsoft/regorus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252</Words>
  <Application>Microsoft Macintosh PowerPoint</Application>
  <PresentationFormat>Widescreen</PresentationFormat>
  <Paragraphs>43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Background: Azure CTO Memo: “How to Policy”/OPA</vt:lpstr>
      <vt:lpstr>Renewed Urgency: New scenarios and teams</vt:lpstr>
      <vt:lpstr>Regorus Engine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Krishnamoorthi</dc:creator>
  <cp:lastModifiedBy>Anand Krishnamoorthi</cp:lastModifiedBy>
  <cp:revision>1</cp:revision>
  <dcterms:created xsi:type="dcterms:W3CDTF">2026-02-26T11:54:21Z</dcterms:created>
  <dcterms:modified xsi:type="dcterms:W3CDTF">2026-02-26T12:30:02Z</dcterms:modified>
</cp:coreProperties>
</file>