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D2D2D"/>
                </a:solidFill>
              </a:rPr>
              <a:t>Background: Azure CTO Memo</a:t>
            </a:r>
          </a:p>
        </p:txBody>
      </p:sp>
      <p:pic>
        <p:nvPicPr>
          <p:cNvPr id="3" name="Picture 2" descr="slide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"/>
            <a:ext cx="5760720" cy="1920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</a:rPr>
              <a:t>"How to Policy" — Azure CTO memo on
the need for a unified policy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19456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EF6C00"/>
                </a:solidFill>
              </a:rPr>
              <a:t>Multi Tenancy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80360"/>
            <a:ext cx="219456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EF6C00"/>
                </a:solidFill>
              </a:rPr>
              <a:t>Scalability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74720"/>
            <a:ext cx="2194560" cy="457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EF6C00"/>
                </a:solidFill>
              </a:rPr>
              <a:t>Lifecycle</a:t>
            </a:r>
          </a:p>
        </p:txBody>
      </p:sp>
      <p:pic>
        <p:nvPicPr>
          <p:cNvPr id="8" name="Picture 7" descr="slide1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194560"/>
            <a:ext cx="3657600" cy="2743200"/>
          </a:xfrm>
          <a:prstGeom prst="rect">
            <a:avLst/>
          </a:prstGeom>
        </p:spPr>
      </p:pic>
      <p:pic>
        <p:nvPicPr>
          <p:cNvPr id="9" name="Picture 8" descr="slide1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200400"/>
            <a:ext cx="47548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D2D2D"/>
                </a:solidFill>
              </a:rPr>
              <a:t>Renewed Urgency: New Scenarios and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</a:rPr>
              <a:t>To simultaneously reduce burden across Azure service teams and enable consistent experiences through a OnePlane philosophy, it’s critical to provide a common policy framework for Microsoft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26080"/>
            <a:ext cx="502920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600" b="1">
                <a:solidFill>
                  <a:srgbClr val="2D2D2D"/>
                </a:solidFill>
              </a:rPr>
              <a:t>Standardization is critical for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657600"/>
            <a:ext cx="5029200" cy="548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2D2D2D"/>
                </a:solidFill>
              </a:rPr>
              <a:t>Just in the last 6 months, many teams with custom solutions</a:t>
            </a:r>
          </a:p>
        </p:txBody>
      </p:sp>
      <p:pic>
        <p:nvPicPr>
          <p:cNvPr id="6" name="Picture 5" descr="slide2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576072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</a:rPr>
              <a:t>Multiple teams across Microsoft building separate policy engines — fragmented, duplicated effort.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4630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The Power of RVM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C8E6C9"/>
                </a:solidFill>
              </a:rPr>
              <a:t>Regorus Virtual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One Engine  ·  Every Policy Language  ·  Any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E6C9"/>
                </a:solidFill>
              </a:rPr>
              <a:t>microsoft/regorus  ·  Open Source (MIT)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62828"/>
                </a:solidFill>
              </a:rPr>
              <a:t>Why We Built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</a:rPr>
              <a:t>Azure Policy must support multiple policy languages. Across Microsoft, teams maintain separate engines.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920240" cy="64008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C62828"/>
                </a:solidFill>
              </a:rPr>
              <a:t>OPA / Rego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42183" y="1371600"/>
            <a:ext cx="1920240" cy="64008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C62828"/>
                </a:solidFill>
              </a:rPr>
              <a:t>Cedar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5727" y="1371600"/>
            <a:ext cx="1920240" cy="64008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C62828"/>
                </a:solidFill>
              </a:rPr>
              <a:t>Azure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9271" y="1371600"/>
            <a:ext cx="1920240" cy="64008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C62828"/>
                </a:solidFill>
              </a:rPr>
              <a:t>AKS Admission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2815" y="1371600"/>
            <a:ext cx="1920240" cy="640080"/>
          </a:xfrm>
          <a:prstGeom prst="roundRect">
            <a:avLst/>
          </a:prstGeom>
          <a:solidFill>
            <a:srgbClr val="FFCDD2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C62828"/>
                </a:solidFill>
              </a:rPr>
              <a:t>Custom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</a:rPr>
              <a:t>N engines = N audits + N test suites + N pipelines + N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5E20"/>
                </a:solidFill>
              </a:rPr>
              <a:t>The JVM solved this for applications. RVM solves it for policy.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6C00"/>
                </a:solidFill>
              </a:rPr>
              <a:t>JVM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92427" y="3200400"/>
            <a:ext cx="2011680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Java · Kotlin
Scala · Groovy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687" y="3291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6C00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24147" y="3200400"/>
            <a:ext cx="2011680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Compilers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4407" y="3291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6C00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5867" y="3200400"/>
            <a:ext cx="2011680" cy="640080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Java Bytecode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127" y="32918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6C00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87587" y="3200400"/>
            <a:ext cx="2011680" cy="6400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JVM: Any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776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5E20"/>
                </a:solidFill>
              </a:rPr>
              <a:t>RVM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92427" y="4206240"/>
            <a:ext cx="201168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Rego · Cedar
Azure Policy · more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2687" y="429767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24147" y="4206240"/>
            <a:ext cx="201168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Compilers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4407" y="429767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5867" y="4206240"/>
            <a:ext cx="2011680" cy="640080"/>
          </a:xfrm>
          <a:prstGeom prst="roundRect">
            <a:avLst/>
          </a:prstGeom>
          <a:solidFill>
            <a:srgbClr val="C8E6C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RVM Bytecode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6127" y="4297679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87587" y="4206240"/>
            <a:ext cx="2011680" cy="6400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100" b="0">
                <a:solidFill>
                  <a:srgbClr val="333333"/>
                </a:solidFill>
              </a:rPr>
              <a:t>RVM: Any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120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</a:rPr>
              <a:t>One engine to audit, one engine to optimize, one engine to deploy — any new language gets everything for free.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0E0E0"/>
                </a:solidFill>
              </a:rPr>
              <a:t>RVM Playground — Cross-language policy in your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78D4"/>
                </a:solidFill>
              </a:rPr>
              <a:t>https://anakrish.github.io/rego-virtual-machine-playground/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5E20"/>
                </a:solidFill>
              </a:rPr>
              <a:t>What RVM Delivers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2560320" cy="45720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</a:rPr>
              <a:t>–  Compiled register-based bytecode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</a:rPr>
              <a:t>–  Short-circuit optimization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</a:rPr>
              <a:t>–  No cloning, no boxing overhead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93338" y="1097280"/>
            <a:ext cx="2560320" cy="457200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Portability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84778" y="169164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</a:rPr>
              <a:t>–  Compile once, run anywhere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</a:rPr>
              <a:t>–  WASM, cloud, edge, bare metal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</a:rPr>
              <a:t>–  8 language bindings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8036" y="1097280"/>
            <a:ext cx="2560320" cy="457200"/>
          </a:xfrm>
          <a:prstGeom prst="roundRect">
            <a:avLst/>
          </a:prstGeom>
          <a:solidFill>
            <a:srgbClr val="00695C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9476" y="169164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</a:rPr>
              <a:t>–  Rust core — memory safe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</a:rPr>
              <a:t>–  Instruction budget for CPU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</a:rPr>
              <a:t>–  Per-eval memory limits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</a:rPr>
              <a:t>–  Sandboxed — no I/O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82735" y="1097280"/>
            <a:ext cx="2560320" cy="457200"/>
          </a:xfrm>
          <a:prstGeom prst="roundRect">
            <a:avLst/>
          </a:prstGeom>
          <a:solidFill>
            <a:srgbClr val="7B1FA2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Extensibility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4175" y="1691640"/>
            <a:ext cx="2423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</a:rPr>
              <a:t>–  HostAwait: mid-eval callbacks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</a:rPr>
              <a:t>–  Suspendable execution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</a:rPr>
              <a:t>–  Forward-compatible serialization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</a:rPr>
              <a:t>One engine to certify  ·  Reproducible results  ·  Open source (MIT)  ·  Structured audit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B5E20"/>
                </a:solidFill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OPA  (Go)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4475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+ Mature ecosystem, large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8249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+ Rego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Go runtime overhead, GC pauses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5798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Embeddable via cgo (complex, heavy)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9572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Single language — no Cedar or Azure 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70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Cedar SDK  (Rust)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18103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+ Strong formal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5584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+ Amazon Verified Permissions — managed cloud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93591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Single language — no Rego or Azure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31335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No bytecode — AST tree-walking evaluator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6907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No mid-evaluation host callbacks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4398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</a:rPr>
              <a:t>Custom Engines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91455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One-off implementations per 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029199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Per-product maintenance &amp; security burden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266943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– No shared tooling or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0175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F6C00"/>
                </a:solidFill>
              </a:rPr>
              <a:t>vs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097280"/>
            <a:ext cx="5394960" cy="457200"/>
          </a:xfrm>
          <a:prstGeom prst="roundRect">
            <a:avLst/>
          </a:prstGeom>
          <a:solidFill>
            <a:srgbClr val="1B5E20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Regorus / RVM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91640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Multi-language: Rego + Cedar + Azure Policy + more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093976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Compiled register-based bytecode with short-circuit optimization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496312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Rust core — memory safe, no_std, no GC, WASM compatible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898648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8 language bindings: C, C++, C#, Go, Java, Python, Ruby, JS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300984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HostAwait: suspendable execution for mid-eval host callbacks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03320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Breakpoints, stepping, debug — suspendable by 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105656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Portable binary artifacts — compile once, run anywhere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507992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Interactive WASM playground in browser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910328"/>
            <a:ext cx="53949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Policy intelligence: formal analysis via Z3 (upcoming)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312664"/>
            <a:ext cx="5394960" cy="347472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100" b="0">
                <a:solidFill>
                  <a:srgbClr val="333333"/>
                </a:solidFill>
              </a:rPr>
              <a:t>Open source (MIT) — transparent and auditable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One Engine. Every Policy. Any Platform.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C8E6C9"/>
                </a:solidFill>
              </a:rPr>
              <a:t>Regorus Virtual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Rego  +  Cedar  +  Azure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43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High performance  ·  Memory safe  ·  Portable bytecode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8 language bindings  ·  WASM Playground  ·  Open Source (MIT)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949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Try it: https://anakrish.github.io/rego-virtual-machine-playground/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8E6C9"/>
                </a:solidFill>
              </a:rPr>
              <a:t>github.com/microsoft/regorus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