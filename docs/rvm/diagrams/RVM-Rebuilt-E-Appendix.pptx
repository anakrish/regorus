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Background: Azure CTO Memo</a:t>
            </a:r>
          </a:p>
        </p:txBody>
      </p:sp>
      <p:pic>
        <p:nvPicPr>
          <p:cNvPr id="3" name="Picture 2" descr="slide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"/>
            <a:ext cx="576072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</a:rPr>
              <a:t>"How to Policy" — Azure CTO memo on
the need for a unified policy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Multi Tenancy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Lifecycle</a:t>
            </a:r>
          </a:p>
        </p:txBody>
      </p:sp>
      <p:pic>
        <p:nvPicPr>
          <p:cNvPr id="8" name="Picture 7" descr="slide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194560"/>
            <a:ext cx="3657600" cy="2743200"/>
          </a:xfrm>
          <a:prstGeom prst="rect">
            <a:avLst/>
          </a:prstGeom>
        </p:spPr>
      </p:pic>
      <p:pic>
        <p:nvPicPr>
          <p:cNvPr id="9" name="Picture 8" descr="slide1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200400"/>
            <a:ext cx="47548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Renewed Urgency: New Scenarios and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To simultaneously reduce burden across Azure service teams and enable consistent experiences through a OnePlane philosophy, it’s critical to provide a common policy framework for Microsoft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2D2D2D"/>
                </a:solidFill>
              </a:rPr>
              <a:t>Standardization is critical for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2D2D2D"/>
                </a:solidFill>
              </a:rPr>
              <a:t>Just in the last 6 months, many teams with custom solutions</a:t>
            </a:r>
          </a:p>
        </p:txBody>
      </p:sp>
      <p:pic>
        <p:nvPicPr>
          <p:cNvPr id="6" name="Picture 5" descr="slide2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7607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</a:rPr>
              <a:t>Multiple teams across Microsoft building separate policy engines — fragmented, duplicated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The Power of RVM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One Engine  ·  Every Policy Language  ·  Any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E6C9"/>
                </a:solidFill>
              </a:rPr>
              <a:t>microsoft/regorus  ·  Open Source (MIT)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6282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</a:rPr>
              <a:t>Azure Policy must support multiple policy languages.
Across Microsoft, teams maintain separate engines.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OPA / Rego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50876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Cedar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59" y="150876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Azure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AKS 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148840"/>
            <a:ext cx="1554480" cy="5486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Custom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</a:rPr>
              <a:t>N audits  ·  N test suites  ·  N pipelines  ·  N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57200"/>
            <a:ext cx="18288" cy="54864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5E20"/>
                </a:solidFill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822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</a:rPr>
              <a:t>What Java did for applications,
RVM does for policy.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08760"/>
            <a:ext cx="109728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Rego · Cedar
Azure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04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2880" y="1508760"/>
            <a:ext cx="109728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0160" y="1691640"/>
            <a:ext cx="304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04960" y="1508760"/>
            <a:ext cx="1097280" cy="77724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RVM
Bytecode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2240" y="1691640"/>
            <a:ext cx="304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40" y="1508760"/>
            <a:ext cx="109728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Any
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One engine to audit and certify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Compiled bytecode — high performance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Rust core — memory safe, no_std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8 language bindings — deploy anywhere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HostAwait — suspend mid-eval for host data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–  WASM playground in browser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03520"/>
            <a:ext cx="11094415" cy="54864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Let me show you — live, in your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0E0E0"/>
                </a:solidFill>
              </a:rPr>
              <a:t>RVM Playground — Cross-language policy in your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78D4"/>
                </a:solidFill>
              </a:rPr>
              <a:t>https://anakrish.github.io/rego-virtual-machine-playground/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One Engine. Every Policy. Any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2468880" cy="4114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Multi-Language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46120"/>
            <a:ext cx="2468880" cy="1188720"/>
          </a:xfrm>
          <a:prstGeom prst="roundRect">
            <a:avLst/>
          </a:prstGeom>
          <a:solidFill>
            <a:srgbClr val="15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C8E6C9"/>
                </a:solidFill>
              </a:rPr>
              <a:t>Rego + Cedar +
Azure Policy →
one bytecode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3818" y="2743200"/>
            <a:ext cx="2468880" cy="4114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High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3818" y="3246120"/>
            <a:ext cx="2468880" cy="1188720"/>
          </a:xfrm>
          <a:prstGeom prst="roundRect">
            <a:avLst/>
          </a:prstGeom>
          <a:solidFill>
            <a:srgbClr val="15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C8E6C9"/>
                </a:solidFill>
              </a:rPr>
              <a:t>Compiled register VM
Short-circuit optimization
No GC, no cloning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8996" y="2743200"/>
            <a:ext cx="2468880" cy="4114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Deploy Anywhere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8996" y="3246120"/>
            <a:ext cx="2468880" cy="1188720"/>
          </a:xfrm>
          <a:prstGeom prst="roundRect">
            <a:avLst/>
          </a:prstGeom>
          <a:solidFill>
            <a:srgbClr val="15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C8E6C9"/>
                </a:solidFill>
              </a:rPr>
              <a:t>Cloud · Edge · WASM
8 language bindings
no_std compatible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4175" y="2743200"/>
            <a:ext cx="2468880" cy="4114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Safe &amp; Auditable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46120"/>
            <a:ext cx="2468880" cy="1188720"/>
          </a:xfrm>
          <a:prstGeom prst="roundRect">
            <a:avLst/>
          </a:prstGeom>
          <a:solidFill>
            <a:srgbClr val="15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C8E6C9"/>
                </a:solidFill>
              </a:rPr>
              <a:t>Memory safe (Rust)
Instruction + memory limits
Open source (MIT)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Try it: https://anakrish.github.io/rego-virtual-machine-playground/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8E6C9"/>
                </a:solidFill>
              </a:rPr>
              <a:t>github.com/microsoft/regorus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OPA  (Go)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Mature ecosystem, large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824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Rego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Go runtime overhead, GC pauses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579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Embeddable via cgo (complex, heavy)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Single language — no Cedar or Azure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0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Cedar SDK  (Rust)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1810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Strong formal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558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Amazon Verified Permissions — managed cloud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93591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Single language — no Rego or Azure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3133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bytecode — AST tree-walking evaluator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690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mid-evaluation host callbacks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4398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Custom Engines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9145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One-off implementations per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2919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Per-product maintenance &amp; security burden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6694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shared tooling or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F6C00"/>
                </a:solidFill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97280"/>
            <a:ext cx="539496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Regorus / RVM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91640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Multi-language: Rego + Cedar + Azure Policy + more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93976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Compiled register-based bytecode with short-circuit optimization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496312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Rust core — memory safe, no_std, no GC, WASM compatible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98648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8 language bindings: C, C++, C#, Go, Java, Python, Ruby, 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300984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HostAwait: suspendable execution for mid-eval host callbacks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03320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Breakpoints, stepping, debug — suspendable by design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05656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Portable binary artifacts — compile once, run anywhere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07992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Interactive WASM playground in browser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910328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Policy intelligence: formal analysis via Z3 (upcoming)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312664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Open source (MIT) — transparent and auditable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5E20"/>
                </a:solidFill>
              </a:rPr>
              <a:t>Developer Tooling &amp; Policy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</a:rPr>
              <a:t>Tools built once work across every policy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565C0"/>
                </a:solidFill>
              </a:rPr>
              <a:t>Policy 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182880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333333"/>
                </a:solidFill>
              </a:rPr>
              <a:t>Rego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182880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333333"/>
                </a:solidFill>
              </a:rPr>
              <a:t>Cedar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182880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333333"/>
                </a:solidFill>
              </a:rPr>
              <a:t>Azure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108960"/>
            <a:ext cx="182880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333333"/>
                </a:solidFill>
              </a:rPr>
              <a:t>Future DSLs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554480"/>
            <a:ext cx="2194560" cy="246888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RVM
Unified AST/IR
Compiler
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554480"/>
            <a:ext cx="1554480" cy="36576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Editor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993392"/>
            <a:ext cx="1554480" cy="32918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LSP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377440"/>
            <a:ext cx="1554480" cy="32918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IntelliSense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761488"/>
            <a:ext cx="1554480" cy="32918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Go-to-Definition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3145536"/>
            <a:ext cx="1554480" cy="329184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Autocomplete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554480"/>
            <a:ext cx="1554480" cy="36576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Code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993392"/>
            <a:ext cx="1554480" cy="329184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Linter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2377440"/>
            <a:ext cx="1554480" cy="329184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Formatter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761488"/>
            <a:ext cx="1554480" cy="329184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Static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145536"/>
            <a:ext cx="1554480" cy="329184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Dead Rule Finder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554480"/>
            <a:ext cx="1554480" cy="36576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DevOps &amp; 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93392"/>
            <a:ext cx="1554480" cy="329184"/>
          </a:xfrm>
          <a:prstGeom prst="roundRect">
            <a:avLst/>
          </a:prstGeom>
          <a:solidFill>
            <a:srgbClr val="B2DFDB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Test Framework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377440"/>
            <a:ext cx="1554480" cy="329184"/>
          </a:xfrm>
          <a:prstGeom prst="roundRect">
            <a:avLst/>
          </a:prstGeom>
          <a:solidFill>
            <a:srgbClr val="B2DFDB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Doc Generator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2761488"/>
            <a:ext cx="1554480" cy="329184"/>
          </a:xfrm>
          <a:prstGeom prst="roundRect">
            <a:avLst/>
          </a:prstGeom>
          <a:solidFill>
            <a:srgbClr val="B2DFDB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CI/CD Gates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145536"/>
            <a:ext cx="1554480" cy="329184"/>
          </a:xfrm>
          <a:prstGeom prst="roundRect">
            <a:avLst/>
          </a:prstGeom>
          <a:solidFill>
            <a:srgbClr val="B2DFDB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0">
                <a:solidFill>
                  <a:srgbClr val="333333"/>
                </a:solidFill>
              </a:rPr>
              <a:t>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3840480"/>
            <a:ext cx="50292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Policy Intelligence — Formal Analysis (separate presentation)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4343400"/>
            <a:ext cx="1202436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Z3-powered
Satisfiability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4868" y="4343400"/>
            <a:ext cx="1202436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Conflict &amp;
Redundancy Detection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0456" y="4343400"/>
            <a:ext cx="1202436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Policy
Equivalence Proofs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96044" y="4343400"/>
            <a:ext cx="1202436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Coverage &amp;
Reachability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</a:rPr>
              <a:t>Without RVM: N tools × M languages.  With RVM: build each tool once.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Trust Through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Memory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Written in Rust — no buffer overflows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no_std compatible — bare metal ready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No unsafe code in evaluation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4207" y="1188720"/>
            <a:ext cx="33832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Execution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1367" y="1783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Configurable memory limits per evaluation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Instruction budget — bounded CPU time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Deterministic: same input = same output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Sandboxed — no file or network I/O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1188720"/>
            <a:ext cx="33832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Auditability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6935" y="1783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Full disassembly with source mapping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Breakpoints &amp; step-through debugging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Structured audit logs — every decision traceable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Forward-compatible binary serialization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Deterministic — enables formal verification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</a:rPr>
              <a:t>–  Open source (MIT) — fully transparent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65C0"/>
                </a:solidFill>
              </a:rPr>
              <a:t>Compliance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24688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333333"/>
                </a:solidFill>
              </a:rPr>
              <a:t>One engine to certify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3818" y="5212080"/>
            <a:ext cx="24688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333333"/>
                </a:solidFill>
              </a:rPr>
              <a:t>Reproducible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8996" y="5212080"/>
            <a:ext cx="24688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333333"/>
                </a:solidFill>
              </a:rPr>
              <a:t>Resource &amp; time bounded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74175" y="5212080"/>
            <a:ext cx="24688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333333"/>
                </a:solidFill>
              </a:rPr>
              <a:t>Open source (MIT)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Why Bytecode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</a:rPr>
              <a:t>Compiling policy to bytecode unlocks capabilities you can’t get from a tree-walking interpreter.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103120" cy="50292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Much faster than tree-walking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Register-based, minimal dispatch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No cloning, no boxing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6463" y="1554480"/>
            <a:ext cx="2103120" cy="50292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Portable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7903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Compile once, run anywhere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Ship pre-compiled bundles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Forward-compatible serialization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1554480"/>
            <a:ext cx="2103120" cy="502920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Tooling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5727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Disassembly + source mapping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Breakpoints &amp; step-through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Build once, all languages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2111" y="1554480"/>
            <a:ext cx="2103120" cy="50292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Suspendable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3551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HostAwait: pause mid-eval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Fetch external data on demand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Resume where you left 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39935" y="1554480"/>
            <a:ext cx="2103120" cy="50292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Safety &amp;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219456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Instruction budget for CPU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Per-evaluation memory limits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</a:rPr>
              <a:t>–  Deterministic, one engine to certify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455767" cy="502920"/>
          </a:xfrm>
          <a:prstGeom prst="round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Without bytecode: interpreter × tooling × deploy per language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4114800"/>
            <a:ext cx="5455767" cy="5029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1B5E20"/>
                </a:solidFill>
              </a:rPr>
              <a:t>With RVM: compile any language → one artifact → tooling for free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